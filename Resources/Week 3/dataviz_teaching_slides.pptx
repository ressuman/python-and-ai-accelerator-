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731520"/>
            <a:ext cx="2926080" cy="2926080"/>
          </a:xfrm>
          <a:prstGeom prst="ellipse">
            <a:avLst/>
          </a:prstGeom>
          <a:solidFill>
            <a:srgbClr val="0F3460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589520" y="2560320"/>
            <a:ext cx="2011680" cy="2011680"/>
          </a:xfrm>
          <a:prstGeom prst="ellipse">
            <a:avLst/>
          </a:prstGeom>
          <a:solidFill>
            <a:srgbClr val="E94560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Topic 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Visualisation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Storytelling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· Seaborn · Pandas · Chart Design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566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6–9:30pm (virtual) · Wed 12:30–4:30pm (in-person)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64008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502920" cy="6400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374904" y="1353312"/>
            <a:ext cx="484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2618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Matplotlib Basics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517904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Line, Bar, Scatter, Histogram from scratch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38528"/>
            <a:ext cx="8412480" cy="64008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938528"/>
            <a:ext cx="502920" cy="6400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" y="2103120"/>
            <a:ext cx="484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0116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Seaborn Power Charts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267712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Heatmaps, Pairplots, Distributions, Boxplots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688336"/>
            <a:ext cx="8412480" cy="64008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688336"/>
            <a:ext cx="502920" cy="6400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6" name="Text 14"/>
          <p:cNvSpPr/>
          <p:nvPr/>
        </p:nvSpPr>
        <p:spPr>
          <a:xfrm>
            <a:off x="374904" y="2852928"/>
            <a:ext cx="484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27614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Choosing the Right Chart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017520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chart type to your data story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438144"/>
            <a:ext cx="8412480" cy="64008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438144"/>
            <a:ext cx="502920" cy="6400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374904" y="3602736"/>
            <a:ext cx="484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35112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Pandas + Matplotlib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3767328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data, then visualise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187952"/>
            <a:ext cx="8412480" cy="64008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4187952"/>
            <a:ext cx="502920" cy="6400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6" name="Text 24"/>
          <p:cNvSpPr/>
          <p:nvPr/>
        </p:nvSpPr>
        <p:spPr>
          <a:xfrm>
            <a:off x="374904" y="4352544"/>
            <a:ext cx="484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42611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Lab: Mini Dashboard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" y="4517136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charts + written summary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Matplotlib — The Foundation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31920" cy="356616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3931920" cy="4114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Core Setup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3749040" cy="2926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1792" y="1691640"/>
            <a:ext cx="341985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figure &amp; axes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fig, ax = plt.subplots(figsize=(8, 5))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Always label your axes!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ax.set_xlabel('X Label')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ax.set_ylabel('Y Label')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ax.set_title('Chart Title')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plt.tight_layout()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097280"/>
            <a:ext cx="4206240" cy="356616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097280"/>
            <a:ext cx="4206240" cy="4114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143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Key Concepts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600200"/>
            <a:ext cx="1005840" cy="3200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6459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Figure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60720" y="16459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canvas — like a blank page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130552"/>
            <a:ext cx="1005840" cy="3200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7627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Axes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60720" y="21762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individual plot (can have many per Figure)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660904"/>
            <a:ext cx="1005840" cy="3200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270662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plt vs ax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60720" y="27066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plt = shortcut; ax = explicit &amp; recommended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3191256"/>
            <a:ext cx="1005840" cy="3200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323697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figsize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60720" y="32369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× Height in inches, e.g. (10, 6)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721608"/>
            <a:ext cx="1005840" cy="3200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37673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tight_layout()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60720" y="37673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overlapping labels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4251960"/>
            <a:ext cx="1005840" cy="3200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8" name="Text 26"/>
          <p:cNvSpPr/>
          <p:nvPr/>
        </p:nvSpPr>
        <p:spPr>
          <a:xfrm>
            <a:off x="4663440" y="42976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savefig()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60720" y="42976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as PNG/SVG/PDF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📈  Line Chart — Trends Over Time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572000" cy="35661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" y="1143000"/>
            <a:ext cx="42428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LINE CHART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months = ['Jan','Feb','Mar','Apr','May','Jun']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   = [120, 145, 162, 158, 190, 210]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fig, ax = plt.subplots(figsize=(8, 4))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ax.plot(months, sales, color='#E94560',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linewidth=2.5, marker='o', markersize=7,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label='Monthly Sales')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ax.fill_between(months, sales, alpha=0.1,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color='#E94560')  # shaded area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ax.set_title('Sales Trend — H1', fontsize=14)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ax.legend()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plt.tight_layout(); plt.show()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120640" y="1005840"/>
            <a:ext cx="3703320" cy="35661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212080" y="1097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to use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212080" y="1508760"/>
            <a:ext cx="3474720" cy="292608"/>
          </a:xfrm>
          <a:prstGeom prst="rect">
            <a:avLst/>
          </a:prstGeom>
          <a:solidFill>
            <a:srgbClr val="C6F6D5"/>
          </a:solidFill>
          <a:ln/>
        </p:spPr>
      </p:sp>
      <p:sp>
        <p:nvSpPr>
          <p:cNvPr id="9" name="Text 7"/>
          <p:cNvSpPr/>
          <p:nvPr/>
        </p:nvSpPr>
        <p:spPr>
          <a:xfrm>
            <a:off x="5257800" y="154533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</a:rPr>
              <a:t>✅ USE WHEN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0" y="18196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change over time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0" y="20939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data (temperature, price)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0" y="2368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2–4 series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12080" y="2752344"/>
            <a:ext cx="3474720" cy="29260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4" name="Text 12"/>
          <p:cNvSpPr/>
          <p:nvPr/>
        </p:nvSpPr>
        <p:spPr>
          <a:xfrm>
            <a:off x="5257800" y="278892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</a:rPr>
              <a:t>❌ AVOID WHEN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0" y="3063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comparisons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0" y="3337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overlapping lines (→ use heatmap)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12080" y="37673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Parameters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57800" y="39959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linewidth  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55080" y="399592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thickness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57800" y="42702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marker  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55080" y="42702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'o', 's', '^', 'D'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57800" y="45445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linestyle  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55080" y="45445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'--', ':', '-.'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57800" y="48188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alpha  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55080" y="48188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0–1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Bar Chart — Comparing Categories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029200" cy="3840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" y="1143000"/>
            <a:ext cx="470001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BAR CHART (vertical &amp; horizontal)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categories = ['Python','R','SQL','Java','Scala']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counts     = [85, 60, 72, 45, 30]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colors     = ['#E94560','#F5A623','#0F3460',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'#16213E','#94A3B8']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fig, axes = plt.subplots(1, 2, figsize=(12, 4))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Vertical bars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axes[0].bar(categories, counts,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color=colors, edgecolor='white')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axes[0].set_title('Vertical Bar')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Horizontal bars (better for long labels)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axes[1].barh(categories, counts, color=colors)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axes[1].set_title('Horizontal Bar')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plt.tight_layout(); plt.show()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577840" y="1051560"/>
            <a:ext cx="3200400" cy="658368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577840" y="1051560"/>
            <a:ext cx="73152" cy="65836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8" name="Text 6"/>
          <p:cNvSpPr/>
          <p:nvPr/>
        </p:nvSpPr>
        <p:spPr>
          <a:xfrm>
            <a:off x="5724144" y="110642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barh vs bar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24144" y="13533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horizontal bars when category names are long (avoids overlapping labels)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77840" y="1801368"/>
            <a:ext cx="3200400" cy="658368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577840" y="1801368"/>
            <a:ext cx="73152" cy="65836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5724144" y="185623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 list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24144" y="21031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a list to color= to give each bar a unique color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77840" y="2551176"/>
            <a:ext cx="3200400" cy="658368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577840" y="2551176"/>
            <a:ext cx="73152" cy="65836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6" name="Text 14"/>
          <p:cNvSpPr/>
          <p:nvPr/>
        </p:nvSpPr>
        <p:spPr>
          <a:xfrm>
            <a:off x="5724144" y="26060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edgecolor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24144" y="28529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'white' edge for a clean separated look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77840" y="3300984"/>
            <a:ext cx="3200400" cy="658368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577840" y="3300984"/>
            <a:ext cx="73152" cy="65836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5724144" y="335584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width=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724144" y="36027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bar thickness (default 0.8)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4050792"/>
            <a:ext cx="3200400" cy="658368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577840" y="4050792"/>
            <a:ext cx="73152" cy="65836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4" name="Text 22"/>
          <p:cNvSpPr/>
          <p:nvPr/>
        </p:nvSpPr>
        <p:spPr>
          <a:xfrm>
            <a:off x="5724144" y="410565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bottom=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724144" y="43525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bars — set the base of each bar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🔵  Scatter Plot — Relationships &amp; Correlations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029200" cy="3840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" y="1143000"/>
            <a:ext cx="470001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SCATTER PLOT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np.random.seed(42)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np.random.randn(100)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2 * x + np.random.randn(100) * 0.8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 = np.abs(np.random.randn(100)) * 100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fig, ax = plt.subplots(figsize=(7, 5))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scatter = ax.scatter(x, y,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c=y,           # colour by y-value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s=size,        # point size by 3rd variable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cmap='RdYlBu', # colour map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alpha=0.7,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edgecolors='white', linewidths=0.5)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plt.colorbar(scatter, ax=ax, label='Value')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ax.set_title('Relationship between X and Y')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plt.tight_layout(); plt.show()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577840" y="1051560"/>
            <a:ext cx="3200400" cy="658368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577840" y="1051560"/>
            <a:ext cx="73152" cy="65836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8" name="Text 6"/>
          <p:cNvSpPr/>
          <p:nvPr/>
        </p:nvSpPr>
        <p:spPr>
          <a:xfrm>
            <a:off x="5724144" y="110642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c=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24144" y="13533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points by a 3rd variable (pass array)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77840" y="1801368"/>
            <a:ext cx="3200400" cy="658368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577840" y="1801368"/>
            <a:ext cx="73152" cy="65836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5724144" y="185623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s=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24144" y="21031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of each point — encode a 4th dimension!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77840" y="2551176"/>
            <a:ext cx="3200400" cy="658368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577840" y="2551176"/>
            <a:ext cx="73152" cy="65836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5724144" y="26060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cmap=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24144" y="28529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'viridis', 'RdYlBu', 'plasma', 'coolwarm'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77840" y="3300984"/>
            <a:ext cx="3200400" cy="658368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577840" y="3300984"/>
            <a:ext cx="73152" cy="65836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5724144" y="335584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alpha=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724144" y="36027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visibility — use 0.3–0.7 for dense data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4050792"/>
            <a:ext cx="3200400" cy="658368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577840" y="4050792"/>
            <a:ext cx="73152" cy="65836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5724144" y="410565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plt.colorbar()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724144" y="43525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colour legend for continuous c=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📉  Histogram — Distributions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029200" cy="3840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" y="1143000"/>
            <a:ext cx="470001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HISTOGRAM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np.random.normal(loc=50,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scale=15, size=500)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fig, axes = plt.subplots(1, 2, figsize=(12, 4))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Basic histogram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axes[0].hist(data, bins=30, color='#E94560',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edgecolor='white', alpha=0.85)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axes[0].set_title('Distribution of Scores')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Overlapping histograms (comparing 2 groups)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data2 = np.random.normal(60, 12, 500)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axes[1].hist(data,  bins=25, alpha=0.6,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label='Group A', color='#E94560')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axes[1].hist(data2, bins=25, alpha=0.6,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label='Group B', color='#0F3460')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axes[1].legend()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plt.tight_layout(); plt.show()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577840" y="1051560"/>
            <a:ext cx="3200400" cy="658368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577840" y="1051560"/>
            <a:ext cx="73152" cy="65836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5724144" y="110642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bins=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24144" y="13533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bars — try 10, 20, 30, 50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77840" y="1801368"/>
            <a:ext cx="3200400" cy="658368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577840" y="1801368"/>
            <a:ext cx="73152" cy="65836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5724144" y="185623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density=True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24144" y="21031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to show probability density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77840" y="2551176"/>
            <a:ext cx="3200400" cy="658368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577840" y="2551176"/>
            <a:ext cx="73152" cy="65836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5724144" y="26060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cumulative=True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24144" y="28529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distribution curve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77840" y="3300984"/>
            <a:ext cx="3200400" cy="658368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577840" y="3300984"/>
            <a:ext cx="73152" cy="65836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5724144" y="335584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edgecolor=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724144" y="36027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'white' separates bars visually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4050792"/>
            <a:ext cx="3200400" cy="658368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577840" y="4050792"/>
            <a:ext cx="73152" cy="65836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4" name="Text 22"/>
          <p:cNvSpPr/>
          <p:nvPr/>
        </p:nvSpPr>
        <p:spPr>
          <a:xfrm>
            <a:off x="5724144" y="410565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 Tip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724144" y="43525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ax.axvline(mean, ls='--') to mark mean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Seaborn — Statistical Visualisation Made Easy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840480" cy="26517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" y="1234440"/>
            <a:ext cx="351129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seaborn as sns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 a built-in dataset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sns.load_dataset('tips')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Set a theme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sns.set_theme(style='darkgrid',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palette='Set2')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Seaborn plots take DataFrames directly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and use column names as labels!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480560" y="1143000"/>
            <a:ext cx="4297680" cy="82296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480560" y="1325880"/>
            <a:ext cx="457200" cy="45720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0" y="1371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74920" y="1234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on Matplotlib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74920" y="1554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compatibility — use plt.* to customise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2103120"/>
            <a:ext cx="4297680" cy="82296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80560" y="228600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2331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74920" y="2194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DataFrame-native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74920" y="2514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df + column names, not raw arrays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80560" y="3063240"/>
            <a:ext cx="4297680" cy="82296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80560" y="3246120"/>
            <a:ext cx="457200" cy="45720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0" y="3291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74920" y="3154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Statistical extras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74920" y="3474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intervals, regression lines built-in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80560" y="4023360"/>
            <a:ext cx="4297680" cy="82296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80560" y="420624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/>
          <p:nvPr/>
        </p:nvSpPr>
        <p:spPr>
          <a:xfrm>
            <a:off x="4480560" y="4251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74920" y="4114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Beautiful defaults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74920" y="4434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Publication-quality styles out of the box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🟥  Seaborn — Heatmap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029200" cy="3840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" y="1143000"/>
            <a:ext cx="470001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HEATMAP — correlation matrix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seaborn as sns, pandas as pd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sns.load_dataset('flights')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Pivot to wide format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pivot = df.pivot(index='month',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columns='year',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values='passengers')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fig, ax = plt.subplots(figsize=(10, 6))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sns.heatmap(pivot,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annot=True,   # show numbers in cells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fmt='d',      # integer format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cmap='YlOrRd',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linewidths=0.5,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ax=ax)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ax.set_title('Passengers per Month &amp; Year')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plt.tight_layout(); plt.show()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577840" y="1051560"/>
            <a:ext cx="3200400" cy="658368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577840" y="1051560"/>
            <a:ext cx="73152" cy="65836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8" name="Text 6"/>
          <p:cNvSpPr/>
          <p:nvPr/>
        </p:nvSpPr>
        <p:spPr>
          <a:xfrm>
            <a:off x="5724144" y="110642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annot=True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24144" y="13533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value inside each cell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77840" y="1801368"/>
            <a:ext cx="3200400" cy="658368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577840" y="1801368"/>
            <a:ext cx="73152" cy="65836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2" name="Text 10"/>
          <p:cNvSpPr/>
          <p:nvPr/>
        </p:nvSpPr>
        <p:spPr>
          <a:xfrm>
            <a:off x="5724144" y="185623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fmt=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24144" y="21031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'd' integer · '.2f' float · '.0%' percent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77840" y="2551176"/>
            <a:ext cx="3200400" cy="658368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577840" y="2551176"/>
            <a:ext cx="73152" cy="65836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6" name="Text 14"/>
          <p:cNvSpPr/>
          <p:nvPr/>
        </p:nvSpPr>
        <p:spPr>
          <a:xfrm>
            <a:off x="5724144" y="26060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cmap=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24144" y="28529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'YlOrRd', 'Blues', 'coolwarm', 'viridis'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77840" y="3300984"/>
            <a:ext cx="3200400" cy="658368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577840" y="3300984"/>
            <a:ext cx="73152" cy="65836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0" name="Text 18"/>
          <p:cNvSpPr/>
          <p:nvPr/>
        </p:nvSpPr>
        <p:spPr>
          <a:xfrm>
            <a:off x="5724144" y="335584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vmin/vmax=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724144" y="36027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colour scale range explicitly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4050792"/>
            <a:ext cx="3200400" cy="658368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577840" y="4050792"/>
            <a:ext cx="73152" cy="65836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4" name="Text 22"/>
          <p:cNvSpPr/>
          <p:nvPr/>
        </p:nvSpPr>
        <p:spPr>
          <a:xfrm>
            <a:off x="5724144" y="410565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case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724144" y="43525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matrices, confusion matrices, time × category data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🔢  Seaborn — Pairplot (EDA Superpower)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029200" cy="3840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" y="1143000"/>
            <a:ext cx="470001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PAIRPLOT — all-vs-all scatter matrix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sns.load_dataset('iris')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Basic pairplot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sns.pairplot(df, hue='species',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palette='Set1')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Customised pairplot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sns.pairplot(df,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hue='species',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diag_kind='kde',  # KDE on diagonal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plot_kws={'alpha': 0.6,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's': 60,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'edgecolor': 'white'},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palette='husl')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plt.suptitle('Iris Feature Pairs',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y=1.02, fontsize=14)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577840" y="1051560"/>
            <a:ext cx="3200400" cy="658368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577840" y="1051560"/>
            <a:ext cx="73152" cy="65836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8" name="Text 6"/>
          <p:cNvSpPr/>
          <p:nvPr/>
        </p:nvSpPr>
        <p:spPr>
          <a:xfrm>
            <a:off x="5724144" y="110642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hue=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24144" y="13533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points by a categorical column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77840" y="1801368"/>
            <a:ext cx="3200400" cy="658368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577840" y="1801368"/>
            <a:ext cx="73152" cy="65836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5724144" y="185623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diag_kind=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24144" y="21031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'hist' or 'kde' — show distribution on diagonal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77840" y="2551176"/>
            <a:ext cx="3200400" cy="658368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577840" y="2551176"/>
            <a:ext cx="73152" cy="65836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5724144" y="26060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plot_kws=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24144" y="28529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 of kwargs passed to the scatter plots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77840" y="3300984"/>
            <a:ext cx="3200400" cy="658368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577840" y="3300984"/>
            <a:ext cx="73152" cy="65836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5724144" y="335584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vars=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724144" y="36027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 of columns to plot (avoid plotting all)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4050792"/>
            <a:ext cx="3200400" cy="658368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577840" y="4050792"/>
            <a:ext cx="73152" cy="65836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4" name="Text 22"/>
          <p:cNvSpPr/>
          <p:nvPr/>
        </p:nvSpPr>
        <p:spPr>
          <a:xfrm>
            <a:off x="5724144" y="410565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💡 When to use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724144" y="43525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step of EDA — spot patterns &amp; outliers in seconds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🎻  Seaborn — Distribution &amp; Box Plots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3383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" y="1143000"/>
            <a:ext cx="378561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DISTRIBUTION PLOT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sns.load_dataset('tips')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KDE + histogram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sns.histplot(df['total_bill'],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kde=True,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color='#E94560',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bins=30)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Violin (KDE + boxplot)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sns.violinplot(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data=df,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x='day', y='total_bill',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hue='sex',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palette='muted')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4114800" cy="3383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28032" y="1143000"/>
            <a:ext cx="378561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BOX PLOT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fig, ax = plt.subplots()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sns.boxplot(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data=df,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x='day',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y='total_bill',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hue='smoker',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palette='Set2',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ax=ax)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Strip plot on top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sns.stripplot(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data=df,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x='day', y='total_bill',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color='black', alpha=0.3,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size=3, ax=ax)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4572000"/>
            <a:ext cx="1554480" cy="438912"/>
          </a:xfrm>
          <a:prstGeom prst="rect">
            <a:avLst/>
          </a:prstGeom>
          <a:solidFill>
            <a:srgbClr val="E9456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45902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histplot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479145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distribution + optional KDE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57400" y="4572000"/>
            <a:ext cx="1554480" cy="438912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57400" y="45902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kdeplot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57400" y="479145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probability density curve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49040" y="4572000"/>
            <a:ext cx="1554480" cy="438912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49040" y="45902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boxplot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49040" y="479145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Median, IQR, outliers by group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40680" y="4572000"/>
            <a:ext cx="1554480" cy="438912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40680" y="45902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violinplot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40680" y="479145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shape + summary stats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132320" y="4572000"/>
            <a:ext cx="1554480" cy="438912"/>
          </a:xfrm>
          <a:prstGeom prst="rect">
            <a:avLst/>
          </a:prstGeom>
          <a:solidFill>
            <a:srgbClr val="6D2E4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32320" y="45902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stripplot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32320" y="479145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 point as a dot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Choosing the Right Chart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874520" cy="34747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10789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Question / Goal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40280" y="1051560"/>
            <a:ext cx="1874520" cy="34747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2313432" y="10789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Chart Type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17720" y="1051560"/>
            <a:ext cx="1874520" cy="34747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9" name="Text 7"/>
          <p:cNvSpPr/>
          <p:nvPr/>
        </p:nvSpPr>
        <p:spPr>
          <a:xfrm>
            <a:off x="4690872" y="10789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Best For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0" y="1051560"/>
            <a:ext cx="1965960" cy="34747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6931152" y="10789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⚠️ Avoid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463040"/>
            <a:ext cx="8549640" cy="438912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" y="1554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over time?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13432" y="1554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 Chart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90872" y="1554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time series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31152" y="15544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data points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1965960"/>
            <a:ext cx="8549640" cy="438912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" y="2057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categories?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13432" y="2057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Bar / Column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90872" y="2057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with clear labels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31152" y="20574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categories (&gt;10)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468880"/>
            <a:ext cx="8549640" cy="438912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" y="2560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shape?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313432" y="2560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Histogram / KDE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90872" y="2560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continuous variable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31152" y="25603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data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971800"/>
            <a:ext cx="8549640" cy="438912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8" name="Text 26"/>
          <p:cNvSpPr/>
          <p:nvPr/>
        </p:nvSpPr>
        <p:spPr>
          <a:xfrm>
            <a:off x="347472" y="3063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variable relationship?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313432" y="3063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Scatter Plot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90872" y="3063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Correlation, clusters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31152" y="30632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3474720"/>
            <a:ext cx="8549640" cy="438912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3" name="Text 31"/>
          <p:cNvSpPr/>
          <p:nvPr/>
        </p:nvSpPr>
        <p:spPr>
          <a:xfrm>
            <a:off x="347472" y="3566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breakdown?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313432" y="3566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Pie / Donut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90872" y="3566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of a whole (&lt;6 slices)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31152" y="35661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categories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3977640"/>
            <a:ext cx="8549640" cy="438912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8" name="Text 36"/>
          <p:cNvSpPr/>
          <p:nvPr/>
        </p:nvSpPr>
        <p:spPr>
          <a:xfrm>
            <a:off x="347472" y="4069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comparisons?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313432" y="4069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Box / Violin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690872" y="4069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IQR, outliers across groups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931152" y="4069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unfamiliar with stats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4320" y="4480560"/>
            <a:ext cx="8549640" cy="438912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3" name="Text 41"/>
          <p:cNvSpPr/>
          <p:nvPr/>
        </p:nvSpPr>
        <p:spPr>
          <a:xfrm>
            <a:off x="347472" y="4572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Many-variable matrix?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313432" y="4572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Heatmap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690872" y="4572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Correlation, confusion matrix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931152" y="45720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data without scaling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Pandas + Matplotlib: Filter → Visualise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572000" cy="3749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" y="1234440"/>
            <a:ext cx="424281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Load data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pd.read_csv('sales.csv',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parse_dates=['date'])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Filter — only 2024 data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df_2024 = df[df['date'].dt.year == 2024]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Aggregate — monthly totals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monthly = (df_2024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.groupby(df_2024['date'].dt.month)['revenue']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.sum()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.reset_index())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Visualise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fig, ax = plt.subplots(figsize=(10, 5))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ax.bar(monthly['date'],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monthly['revenue'],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color='#E94560')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ax.set_title('Monthly Revenue 2024')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plt.tight_layout()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0" y="1179576"/>
            <a:ext cx="384048" cy="38404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197864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532120" y="117957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74920" y="14173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pd.read_csv(), pd.read_excel()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0" y="1819656"/>
            <a:ext cx="384048" cy="38404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837944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32120" y="18196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Inspect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74920" y="205740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df.head(), df.info(), df.describe()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0" y="2459736"/>
            <a:ext cx="384048" cy="38404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2478024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532120" y="245973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Filter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74920" y="269748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df[mask], .query(), .loc[]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0" y="3099816"/>
            <a:ext cx="384048" cy="38404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3118104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32120" y="30998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Aggregate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74920" y="33375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.groupby().agg(), .pivot_table()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0" y="3739896"/>
            <a:ext cx="384048" cy="38404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3758184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32120" y="373989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Plot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74920" y="397764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ax.plot/bar/scatter() or sns.*()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0" y="4379976"/>
            <a:ext cx="384048" cy="38404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4398264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32120" y="437997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Annotate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74920" y="46177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ax.set_title/xlabel/ylabel(), legend()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🔬  LAB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a Mini Data Dashboard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3931920" cy="1170432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691640"/>
            <a:ext cx="3931920" cy="34747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" y="17556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Chart 1: Line Chart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" y="216712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a time-series trend using Matplotlib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1691640"/>
            <a:ext cx="3931920" cy="1170432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691640"/>
            <a:ext cx="3931920" cy="34747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2" name="Text 10"/>
          <p:cNvSpPr/>
          <p:nvPr/>
        </p:nvSpPr>
        <p:spPr>
          <a:xfrm>
            <a:off x="4681728" y="17556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Chart 2: Bar Chart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81728" y="216712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category totals with colour coding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017520"/>
            <a:ext cx="3931920" cy="1170432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017520"/>
            <a:ext cx="3931920" cy="34747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" y="30815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Chart 3: Scatter Plot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9768" y="349300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 relationship between two numeric columns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0" y="3017520"/>
            <a:ext cx="3931920" cy="1170432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3017520"/>
            <a:ext cx="3931920" cy="34747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4681728" y="30815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Chart 4: Heatmap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81728" y="349300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correlation matrix using Seaborn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43891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After building your 4 charts, write a 3–5 sentence narrative summary explaining the key insight from each chart.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Quick Reference Cheatsheet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88920" cy="34747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332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Matplotlib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788920" cy="320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48132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plt.subplots(figsize=(w,h))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764792"/>
            <a:ext cx="2788920" cy="3200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82880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ax.plot(x, y, color=, lw=, marker=)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112264"/>
            <a:ext cx="2788920" cy="320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17627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ax.bar(x, y, color=, edgecolor=)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459736"/>
            <a:ext cx="2788920" cy="3200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52374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ax.barh(y, width)  # horizontal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807208"/>
            <a:ext cx="2788920" cy="320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87121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ax.scatter(x, y, c=, s=, cmap=)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154680"/>
            <a:ext cx="2788920" cy="3200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21868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ax.hist(data, bins=, density=)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502152"/>
            <a:ext cx="2788920" cy="320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56616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ax.set_title/xlabel/ylabel()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849624"/>
            <a:ext cx="2788920" cy="3200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91363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ax.legend()  |  ax.grid(True)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4197096"/>
            <a:ext cx="2788920" cy="320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26110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plt.tight_layout()  |  plt.show()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4544568"/>
            <a:ext cx="2788920" cy="3200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60857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fig.savefig('file.png', dpi=150)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182112" y="1005840"/>
            <a:ext cx="2788920" cy="347472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7" name="Text 25"/>
          <p:cNvSpPr/>
          <p:nvPr/>
        </p:nvSpPr>
        <p:spPr>
          <a:xfrm>
            <a:off x="3273552" y="10332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Seaborn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182112" y="1417320"/>
            <a:ext cx="2788920" cy="320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9" name="Text 27"/>
          <p:cNvSpPr/>
          <p:nvPr/>
        </p:nvSpPr>
        <p:spPr>
          <a:xfrm>
            <a:off x="3273552" y="148132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sns.set_theme(style=, palette=)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182112" y="1764792"/>
            <a:ext cx="2788920" cy="3200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1" name="Text 29"/>
          <p:cNvSpPr/>
          <p:nvPr/>
        </p:nvSpPr>
        <p:spPr>
          <a:xfrm>
            <a:off x="3273552" y="182880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sns.lineplot(data=df, x=, y=, hue=)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182112" y="2112264"/>
            <a:ext cx="2788920" cy="320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3" name="Text 31"/>
          <p:cNvSpPr/>
          <p:nvPr/>
        </p:nvSpPr>
        <p:spPr>
          <a:xfrm>
            <a:off x="3273552" y="217627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sns.barplot(data=df, x=, y=, hue=)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182112" y="2459736"/>
            <a:ext cx="2788920" cy="3200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5" name="Text 33"/>
          <p:cNvSpPr/>
          <p:nvPr/>
        </p:nvSpPr>
        <p:spPr>
          <a:xfrm>
            <a:off x="3273552" y="252374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sns.scatterplot(data=df, x=, y=, hue=)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182112" y="2807208"/>
            <a:ext cx="2788920" cy="320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7" name="Text 35"/>
          <p:cNvSpPr/>
          <p:nvPr/>
        </p:nvSpPr>
        <p:spPr>
          <a:xfrm>
            <a:off x="3273552" y="287121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sns.histplot(df[col], kde=True)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182112" y="3154680"/>
            <a:ext cx="2788920" cy="3200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9" name="Text 37"/>
          <p:cNvSpPr/>
          <p:nvPr/>
        </p:nvSpPr>
        <p:spPr>
          <a:xfrm>
            <a:off x="3273552" y="321868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sns.boxplot(data=df, x=, y=, hue=)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182112" y="3502152"/>
            <a:ext cx="2788920" cy="320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1" name="Text 39"/>
          <p:cNvSpPr/>
          <p:nvPr/>
        </p:nvSpPr>
        <p:spPr>
          <a:xfrm>
            <a:off x="3273552" y="356616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sns.violinplot(data=df, x=, y=)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182112" y="3849624"/>
            <a:ext cx="2788920" cy="3200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3" name="Text 41"/>
          <p:cNvSpPr/>
          <p:nvPr/>
        </p:nvSpPr>
        <p:spPr>
          <a:xfrm>
            <a:off x="3273552" y="391363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sns.heatmap(pivot, annot=, cmap=)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182112" y="4197096"/>
            <a:ext cx="2788920" cy="320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5" name="Text 43"/>
          <p:cNvSpPr/>
          <p:nvPr/>
        </p:nvSpPr>
        <p:spPr>
          <a:xfrm>
            <a:off x="3273552" y="426110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sns.pairplot(df, hue=, diag_kind=)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182112" y="4544568"/>
            <a:ext cx="2788920" cy="3200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7" name="Text 45"/>
          <p:cNvSpPr/>
          <p:nvPr/>
        </p:nvSpPr>
        <p:spPr>
          <a:xfrm>
            <a:off x="3273552" y="460857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sns.stripplot(data=df, x=, y=)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089904" y="1005840"/>
            <a:ext cx="2788920" cy="34747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9" name="Text 47"/>
          <p:cNvSpPr/>
          <p:nvPr/>
        </p:nvSpPr>
        <p:spPr>
          <a:xfrm>
            <a:off x="6181344" y="10332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Pandas Filter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089904" y="1417320"/>
            <a:ext cx="2788920" cy="320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1" name="Text 49"/>
          <p:cNvSpPr/>
          <p:nvPr/>
        </p:nvSpPr>
        <p:spPr>
          <a:xfrm>
            <a:off x="6181344" y="148132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df[df['col'] &gt; value]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089904" y="1764792"/>
            <a:ext cx="2788920" cy="3200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53" name="Text 51"/>
          <p:cNvSpPr/>
          <p:nvPr/>
        </p:nvSpPr>
        <p:spPr>
          <a:xfrm>
            <a:off x="6181344" y="182880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df.query('col &gt; @value')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089904" y="2112264"/>
            <a:ext cx="2788920" cy="320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5" name="Text 53"/>
          <p:cNvSpPr/>
          <p:nvPr/>
        </p:nvSpPr>
        <p:spPr>
          <a:xfrm>
            <a:off x="6181344" y="217627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df.loc[mask, cols]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089904" y="2459736"/>
            <a:ext cx="2788920" cy="3200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57" name="Text 55"/>
          <p:cNvSpPr/>
          <p:nvPr/>
        </p:nvSpPr>
        <p:spPr>
          <a:xfrm>
            <a:off x="6181344" y="252374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df.groupby('col').agg({'n': 'sum'})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089904" y="2807208"/>
            <a:ext cx="2788920" cy="320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9" name="Text 57"/>
          <p:cNvSpPr/>
          <p:nvPr/>
        </p:nvSpPr>
        <p:spPr>
          <a:xfrm>
            <a:off x="6181344" y="287121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df.pivot_table(values=, index=, cols=)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089904" y="3154680"/>
            <a:ext cx="2788920" cy="3200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61" name="Text 59"/>
          <p:cNvSpPr/>
          <p:nvPr/>
        </p:nvSpPr>
        <p:spPr>
          <a:xfrm>
            <a:off x="6181344" y="321868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df['date'].dt.year / .month / .day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089904" y="3502152"/>
            <a:ext cx="2788920" cy="320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3" name="Text 61"/>
          <p:cNvSpPr/>
          <p:nvPr/>
        </p:nvSpPr>
        <p:spPr>
          <a:xfrm>
            <a:off x="6181344" y="356616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df.sort_values('col', ascending=False)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089904" y="3849624"/>
            <a:ext cx="2788920" cy="3200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65" name="Text 63"/>
          <p:cNvSpPr/>
          <p:nvPr/>
        </p:nvSpPr>
        <p:spPr>
          <a:xfrm>
            <a:off x="6181344" y="391363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df.drop_duplicates(subset='col')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089904" y="4197096"/>
            <a:ext cx="2788920" cy="320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7" name="Text 65"/>
          <p:cNvSpPr/>
          <p:nvPr/>
        </p:nvSpPr>
        <p:spPr>
          <a:xfrm>
            <a:off x="6181344" y="426110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df.fillna(0)  |  df.dropna()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6089904" y="4544568"/>
            <a:ext cx="2788920" cy="3200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69" name="Text 67"/>
          <p:cNvSpPr/>
          <p:nvPr/>
        </p:nvSpPr>
        <p:spPr>
          <a:xfrm>
            <a:off x="6181344" y="460857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df.merge(df2, on='key', how='left')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E94560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0F3460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621792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051560"/>
            <a:ext cx="73152" cy="62179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20700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you full control — figure, axes, every pixel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1801368"/>
            <a:ext cx="7680960" cy="621792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1801368"/>
            <a:ext cx="73152" cy="6217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195681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 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Matplotlib for beautiful statistical charts instantly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2551176"/>
            <a:ext cx="7680960" cy="621792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551176"/>
            <a:ext cx="73152" cy="62179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270662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choice 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storytelling decision — match the chart to the insight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3300984"/>
            <a:ext cx="7680960" cy="621792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300984"/>
            <a:ext cx="73152" cy="6217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34564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pipeline 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→ Aggregate → Visualise is the core workflow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4050792"/>
            <a:ext cx="7680960" cy="621792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4050792"/>
            <a:ext cx="73152" cy="62179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42062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lab 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all 4 chart types + write a narrative summary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4663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coding &amp; see you in the lab! 🚀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Visualisation &amp; Storytelling</dc:title>
  <dc:subject>PptxGenJS Presentation</dc:subject>
  <dc:creator>PptxGenJS</dc:creator>
  <cp:lastModifiedBy>PptxGenJS</cp:lastModifiedBy>
  <cp:revision>1</cp:revision>
  <dcterms:created xsi:type="dcterms:W3CDTF">2026-04-13T11:42:11Z</dcterms:created>
  <dcterms:modified xsi:type="dcterms:W3CDTF">2026-04-13T11:42:11Z</dcterms:modified>
</cp:coreProperties>
</file>