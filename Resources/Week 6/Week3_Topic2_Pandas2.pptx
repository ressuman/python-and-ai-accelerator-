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73152"/>
            <a:ext cx="86868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6888" y="4754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Topic 2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46888" y="804672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2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246888" y="162763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Visualisation &amp; Tidy Data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246888" y="242316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Chaining · Plotting · Seaborn · Tidy Data · Merging · Pipelines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46888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04-data-analysis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Week 3 Topic 2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503920" y="482803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4CB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73152"/>
            <a:ext cx="86868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6888" y="502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0" y="1078992"/>
            <a:ext cx="914400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46888" y="123444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Chaining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246888" y="2788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pattern in data analysis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Week 3 Topic 2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503920" y="482803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73152"/>
            <a:ext cx="86868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6888" y="50292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Chain, Don't Soup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246888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04-data-analysis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1645920"/>
            <a:ext cx="9144000" cy="3200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Week 3 Topic 2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503920" y="482803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46888" y="1737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create a variable just to modify it on the next line — use a chain instead.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46888" y="2148840"/>
            <a:ext cx="416052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6888" y="21488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Anti-Pattern — Variable Soup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46888" y="2532888"/>
            <a:ext cx="4160520" cy="173736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4048" y="2606040"/>
            <a:ext cx="38862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df1 = sample_df.copy()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df2 = df1.dropna()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df3 = df2[df2['amount'] &gt; 0]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df4 = df3.assign(vat=df3['amount']*0.125)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df5 = df4.sort_values('amount', ascending=False)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46888" y="4270248"/>
            <a:ext cx="4160520" cy="347472"/>
          </a:xfrm>
          <a:prstGeom prst="rect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8328" y="428853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variables · 5 data copies · Hard to debug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36592" y="2148840"/>
            <a:ext cx="4160520" cy="38404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36592" y="21488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Professional — One Pipeline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36592" y="2532888"/>
            <a:ext cx="4160520" cy="173736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73752" y="2606040"/>
            <a:ext cx="38862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processed =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sample_df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.dropna(subset=['amount'])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.query('amount &gt; 0')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.assign(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vat=lambda x: x['amount'] * 0.125,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total=lambda x: x['amount'] + x['vat']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.sort_values('amount', ascending=False)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.reset_index(drop=True)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736592" y="4270248"/>
            <a:ext cx="4160520" cy="347472"/>
          </a:xfrm>
          <a:prstGeom prst="rect">
            <a:avLst/>
          </a:prstGeom>
          <a:solidFill>
            <a:srgbClr val="34CB62">
              <a:alpha val="12000"/>
            </a:srgbClr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28032" y="428853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variable · Clear flow · Comment any line to test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46888" y="46177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If you create a variable just to modify it on the next line — use a chain instead.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73152"/>
            <a:ext cx="86868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6888" y="50292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Operations — The Essential Tools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246888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04-data-analysis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1645920"/>
            <a:ext cx="9144000" cy="3200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Week 3 Topic 2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503920" y="482803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46888" y="1737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 methods are the backbone of every professional Pandas pipeline.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46888" y="2176272"/>
            <a:ext cx="4160520" cy="347472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" y="217627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.assign()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46888" y="2523744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6616" y="2560320"/>
            <a:ext cx="3959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 derive new columns.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df['col'] = value inside a chain — always use .assign().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lambda x: to reference columns created in the same call.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90288" y="2176272"/>
            <a:ext cx="4160520" cy="347472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81728" y="217627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.query()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90288" y="2523744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00016" y="2560320"/>
            <a:ext cx="3959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rows with readable string syntax.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readable than boolean indexing.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and, or, not, ==, &gt;, &lt; operators.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46888" y="3410712"/>
            <a:ext cx="4160520" cy="34747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8328" y="341071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.dropna()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246888" y="3758184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6616" y="3794760"/>
            <a:ext cx="3959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rows with missing values.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subset=['col'] to target specific columns.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&lt;5% drop, 5-30% impute, &gt;30% investigate.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90288" y="3410712"/>
            <a:ext cx="4160520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681728" y="341071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.fillna()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590288" y="3758184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00016" y="3794760"/>
            <a:ext cx="39593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missing values with defaults.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 dict to fill different columns differently.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fillna({'age': df['age'].median(), 'flag': False})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73152"/>
            <a:ext cx="86868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6888" y="50292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GroupBy, Aggregation &amp; Combining Data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246888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04-data-analysis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1645920"/>
            <a:ext cx="9144000" cy="3200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Week 3 Topic 2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503920" y="482803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46888" y="1737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for summarising and assembling data from multiple sources.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46888" y="2148840"/>
            <a:ext cx="4160520" cy="347472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" y="214884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.groupby() + .agg()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46888" y="2496312"/>
            <a:ext cx="4160520" cy="1353312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4048" y="2551176"/>
            <a:ext cx="3931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regional_summary =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transactions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.groupby('region', as_index=False)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.agg(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total_sales=('amount_ghs', 'sum'),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avg_order=('amount_ghs', 'mean'),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num_orders=('order_id', 'count')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.sort_values('total_sales', ascending=False)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46888" y="388620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aggregations with .agg() are cleaner and more readable than chained .groupby().sum().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736592" y="2148840"/>
            <a:ext cx="4160520" cy="347472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28032" y="214884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pd.concat()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736592" y="2496312"/>
            <a:ext cx="4160520" cy="1353312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73752" y="2551176"/>
            <a:ext cx="3931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annual =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pd.concat(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[q1_sales, q2_sales],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ignore_index=True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.assign(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revenue_usd=lambda x: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x['revenue_ghs'] * 0.08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.sort_values(['product', 'quarter'])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736592" y="388620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ignore_index=True creates a clean sequential index. Without it, you get duplicate index values.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46888" y="4544568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Common mistake: using inplace=True — it returns None and breaks your chain!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4CB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73152"/>
            <a:ext cx="86868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6888" y="502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0" y="1078992"/>
            <a:ext cx="914400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46888" y="123444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246888" y="2788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OOP · Seaborn · Heatmaps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Week 3 Topic 2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503920" y="482803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73152"/>
            <a:ext cx="86868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6888" y="50292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 Plotting Stack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246888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04-data-analysis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1645920"/>
            <a:ext cx="9144000" cy="3200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Week 3 Topic 2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503920" y="482803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46888" y="1737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libraries — know when to use each one.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46888" y="2148840"/>
            <a:ext cx="4160520" cy="384048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" y="214884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 —  The Foundation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246888" y="2532888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6616" y="2569464"/>
            <a:ext cx="3959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over every pixel. Low-level but powerful. The base layer all other libraries build on.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90288" y="2148840"/>
            <a:ext cx="4160520" cy="38404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81728" y="214884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.plot()  —  Quick Plots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590288" y="2532888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00016" y="2569464"/>
            <a:ext cx="3959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wrapper around Matplotlib. Great for fast EDA. Always inject ax= for real control.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246888" y="3429000"/>
            <a:ext cx="4160520" cy="38404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8328" y="342900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 —  Statistical Plots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246888" y="3813048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6616" y="3849624"/>
            <a:ext cx="3959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Boxplots, violin plots, regression, heatmaps. Handles the math — you write one line.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590288" y="3429000"/>
            <a:ext cx="4160520" cy="38404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681728" y="342900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 —  Interactive Charts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590288" y="3813048"/>
            <a:ext cx="4160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00016" y="3849624"/>
            <a:ext cx="3959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Web-ready interactive charts. Hover, zoom, pan. Best for dashboards and presentations.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246888" y="45994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stack: Matplotlib (OOP) + Seaborn — the gold standard in AI research and production.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73152"/>
            <a:ext cx="86868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6888" y="50292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vs Explicit Matplotlib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246888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04-data-analysis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1645920"/>
            <a:ext cx="9144000" cy="3200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Week 3 Topic 2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503920" y="482803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46888" y="1737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the explicit (OOP) interface. The implicit plt.plot() interface is spaghetti.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46888" y="2148840"/>
            <a:ext cx="416052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6888" y="21488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Implicit — plt.plot()  (Avoid)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46888" y="2532888"/>
            <a:ext cx="4160520" cy="13258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4048" y="2587752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BAD — Matplotlib loses track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of which figure is current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plt.plot(cities, salaries)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plt.title('Salaries')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plt.xlabel('City')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38328" y="391363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 to manage multiple figures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Breaks in complex dashboards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Almost impossible to test in production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36592" y="2148840"/>
            <a:ext cx="4160520" cy="38404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36592" y="21488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Explicit OOP — ax.plot()  (Always)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736592" y="2532888"/>
            <a:ext cx="4160520" cy="13258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73752" y="2587752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plt.subplots(figsize=(8,5))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ax.plot(cities, salaries,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marker='o', color='teal')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ax.set_title('Tech Salaries in Ghana')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ax.set_xlabel('City')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ax.grid(True, alpha=0.3)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828032" y="391363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control over each axes object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Scales to multi-panel dashboards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Testable and reproducible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46888" y="45994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Always start with  fig, ax = plt.subplots()  — then call methods on ax.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73152"/>
            <a:ext cx="86868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6888" y="50292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.plot() + OOP — Best of Both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246888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04-data-analysis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1645920"/>
            <a:ext cx="9144000" cy="3200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Week 3 Topic 2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503920" y="482803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46888" y="1737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Pandas convenience, but always inject the ax object for precise layout control.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46888" y="2121408"/>
            <a:ext cx="8641080" cy="150876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2176272"/>
            <a:ext cx="8412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(ax1, ax2) = plt.subplots(1, 2, figsize=(15, 6))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Inject ax into Pandas .plot() — the KEY step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df.plot(kind='bar', x='company', y='employees', ax=ax1)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ax1.set_title('Employee Count by Company')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df.plot(kind='pie', y='funding', ax=ax2, autopct='%1.1f%%')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ax2.set_title('Funding Distribution')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46888" y="3730752"/>
            <a:ext cx="1645920" cy="4114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1752" y="373075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938528" y="37673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Figure and Axes objects. Always the first step.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90288" y="3730752"/>
            <a:ext cx="1645920" cy="4114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45152" y="373075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(ax1, ax2) unpacking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281928" y="37673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row, 2 columns of plots. Adjust the (1, 2) tuple for layout.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46888" y="4206240"/>
            <a:ext cx="1645920" cy="4114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1752" y="4206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ax=ax1 injection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938528" y="424281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key — tells Pandas exactly which axes to draw on.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590288" y="4206240"/>
            <a:ext cx="1645920" cy="4114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45152" y="4206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281928" y="424281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labels from overlapping between subplots.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73152"/>
            <a:ext cx="86868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6888" y="50292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— Statistical Visualisation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246888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04-data-analysis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1645920"/>
            <a:ext cx="9144000" cy="3200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Week 3 Topic 2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503920" y="482803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46888" y="1737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handles the complex maths. Matplotlib's ax gives you the control. Together: gold standard.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46888" y="2121408"/>
            <a:ext cx="8641080" cy="114300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2176272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(ax1, ax2) = plt.subplots(1, 2, figsize=(16, 6))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sns.boxplot(data=tips, x='day', y='total_bill', hue='sex', ax=ax1)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ax1.set_title('Bill Distribution by Day')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sns.regplot(data=tips, x='total_bill', y='tip', ax=ax2)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ax2.set_title('Bill vs Tip (with regression line)')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46888" y="3401568"/>
            <a:ext cx="2788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46888" y="3401568"/>
            <a:ext cx="54864" cy="50292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6616" y="341985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sns.boxplot()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56616" y="365760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+ quartiles + outliers in one call.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154680" y="3401568"/>
            <a:ext cx="2788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154680" y="3401568"/>
            <a:ext cx="54864" cy="50292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64408" y="341985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sns.violinplot()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264408" y="365760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boxplot, but shows full distribution shape.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062472" y="3401568"/>
            <a:ext cx="2788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62472" y="3401568"/>
            <a:ext cx="54864" cy="50292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72200" y="341985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sns.regplot()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172200" y="365760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+ regression line + confidence interval.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246888" y="3950208"/>
            <a:ext cx="2788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46888" y="3950208"/>
            <a:ext cx="54864" cy="50292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56616" y="396849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sns.heatmap()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56616" y="420624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matrix — essential for correlations.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154680" y="3950208"/>
            <a:ext cx="2788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154680" y="3950208"/>
            <a:ext cx="54864" cy="50292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264408" y="396849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sns.barplot()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3264408" y="420624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+ confidence interval bars per category.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6062472" y="3950208"/>
            <a:ext cx="2788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062472" y="3950208"/>
            <a:ext cx="54864" cy="50292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172200" y="396849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sns.histplot()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172200" y="420624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with optional KDE density curve.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73152"/>
            <a:ext cx="86868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6888" y="50292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 — Feature Correlation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246888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04-data-analysis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1645920"/>
            <a:ext cx="9144000" cy="3200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Week 3 Topic 2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503920" y="482803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46888" y="1737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use correlation heatmaps constantly in AI to detect multicollinearity before modelling.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46888" y="2121408"/>
            <a:ext cx="8641080" cy="987552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2176272"/>
            <a:ext cx="8412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 = df.select_dtypes(include=[np.number]).corr()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plt.subplots(figsize=(8, 6))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sns.heatmap(corr, annot=True, cmap='coolwarm', fmt=".2f", ax=ax)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ax.set_title('Feature Correlation Heatmap')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46888" y="3246120"/>
            <a:ext cx="256032" cy="237744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6888" y="324612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66928" y="32186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.select_dtypes(include=[np.number])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749040" y="321868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only numeric columns — heatmaps only work on numbers.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46888" y="3547872"/>
            <a:ext cx="256032" cy="237744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46888" y="354787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66928" y="35204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.corr()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749040" y="35204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pairwise Pearson correlation coefficients (-1 to +1).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46888" y="3849624"/>
            <a:ext cx="256032" cy="237744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46888" y="384962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66928" y="38221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cmap='coolwarm'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3749040" y="382219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= negative correlation, Red = positive, White = none.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46888" y="4151376"/>
            <a:ext cx="256032" cy="237744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46888" y="415137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66928" y="41239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annot=True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3749040" y="412394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the correlation value inside each cell — always use this.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46888" y="4453128"/>
            <a:ext cx="256032" cy="237744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46888" y="445312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66928" y="44256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Multicollinearity warning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3749040" y="442569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two features correlate &gt; 0.9, drop one — they tell the model the same thing.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4CB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73152"/>
            <a:ext cx="86868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6888" y="502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0" y="1078992"/>
            <a:ext cx="914400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46888" y="123444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 Data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246888" y="2788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your data must be in before modelling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Week 3 Topic 2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503920" y="482803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73152"/>
            <a:ext cx="86868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6888" y="50292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Rules of Tidy Data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246888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04-data-analysis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1645920"/>
            <a:ext cx="9144000" cy="3200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Week 3 Topic 2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503920" y="482803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46888" y="1737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else is messy data. You will spend 80% of your time fixing it.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46888" y="2121408"/>
            <a:ext cx="438912" cy="74980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6888" y="2121408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685800" y="2121408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4672" y="2148840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variable forms a column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04672" y="244144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measurement type (price, date, region) gets its own column. If column headers are values (like years or income brackets), the data is messy.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43600" y="216712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5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region, sales, product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5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 2020, 2021, 2022, 2023  (if these are years)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46888" y="2980944"/>
            <a:ext cx="438912" cy="74980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46888" y="2980944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685800" y="2980944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4672" y="3008376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observation forms a row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04672" y="330098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individual event, record, or entity gets its own row. If one row mixes multiple observations, it's messy.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943600" y="302666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5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One row per transaction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5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 One row per customer (with multiple orders merged)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46888" y="3840480"/>
            <a:ext cx="438912" cy="74980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46888" y="3840480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6" name="Shape 23"/>
          <p:cNvSpPr/>
          <p:nvPr/>
        </p:nvSpPr>
        <p:spPr>
          <a:xfrm>
            <a:off x="685800" y="3840480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04672" y="3867912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table contains one thing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04672" y="41605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Songs and weekly rankings are different things — separate them. Mixing them forces you to repeat song metadata for every week it charts.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943600" y="388620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5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songs table + ranks table (linked by 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5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 One table with artist repeated 20 times per song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246888" y="464515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 data is the required input for scikit-learn, TensorFlow, and every ML framework.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73152"/>
            <a:ext cx="86868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6888" y="50292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vs Long Format — .melt()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246888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04-data-analysis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1645920"/>
            <a:ext cx="9144000" cy="3200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Week 3 Topic 2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503920" y="482803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46888" y="1737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format is for humans. Long format is for machines. .melt() converts between them.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46888" y="2148840"/>
            <a:ext cx="416052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6888" y="21488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Wide (Messy) — Humans like this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46888" y="2532888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46888" y="2532888"/>
            <a:ext cx="1042416" cy="292608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6888" y="2532888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289304" y="2532888"/>
            <a:ext cx="1042416" cy="292608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89304" y="2532888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331720" y="2532888"/>
            <a:ext cx="1042416" cy="292608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331720" y="2532888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374136" y="2532888"/>
            <a:ext cx="1042416" cy="292608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74136" y="2532888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46888" y="2825496"/>
            <a:ext cx="104241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46888" y="2825496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Accra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289304" y="2825496"/>
            <a:ext cx="104241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289304" y="2825496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331720" y="2825496"/>
            <a:ext cx="104241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331720" y="2825496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374136" y="2825496"/>
            <a:ext cx="1042416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374136" y="2825496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46888" y="3118104"/>
            <a:ext cx="1042416" cy="292608"/>
          </a:xfrm>
          <a:prstGeom prst="rect">
            <a:avLst/>
          </a:prstGeom>
          <a:solidFill>
            <a:srgbClr val="F0FFF4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46888" y="3118104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Kumasi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1289304" y="3118104"/>
            <a:ext cx="1042416" cy="292608"/>
          </a:xfrm>
          <a:prstGeom prst="rect">
            <a:avLst/>
          </a:prstGeom>
          <a:solidFill>
            <a:srgbClr val="F0FFF4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289304" y="3118104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2331720" y="3118104"/>
            <a:ext cx="1042416" cy="292608"/>
          </a:xfrm>
          <a:prstGeom prst="rect">
            <a:avLst/>
          </a:prstGeom>
          <a:solidFill>
            <a:srgbClr val="F0FFF4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331720" y="3118104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3374136" y="3118104"/>
            <a:ext cx="1042416" cy="292608"/>
          </a:xfrm>
          <a:prstGeom prst="rect">
            <a:avLst/>
          </a:prstGeom>
          <a:solidFill>
            <a:srgbClr val="F0FFF4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374136" y="3118104"/>
            <a:ext cx="1042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338328" y="373075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is scattered in column names — ML models can't use this.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4315968" y="265176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.melt()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4736592" y="2148840"/>
            <a:ext cx="4160520" cy="38404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736592" y="21488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Long (Tidy) — Machines like this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4736592" y="2532888"/>
            <a:ext cx="4160520" cy="1435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736592" y="2532888"/>
            <a:ext cx="1389888" cy="29260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736592" y="2532888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6126480" y="2532888"/>
            <a:ext cx="1389888" cy="29260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126480" y="2532888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7516368" y="2532888"/>
            <a:ext cx="1389888" cy="29260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516368" y="2532888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4736592" y="2825496"/>
            <a:ext cx="1389888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736592" y="2825496"/>
            <a:ext cx="13898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Accra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6126480" y="2825496"/>
            <a:ext cx="1389888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126480" y="2825496"/>
            <a:ext cx="13898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7516368" y="2825496"/>
            <a:ext cx="1389888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516368" y="2825496"/>
            <a:ext cx="13898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4736592" y="3108960"/>
            <a:ext cx="1389888" cy="283464"/>
          </a:xfrm>
          <a:prstGeom prst="rect">
            <a:avLst/>
          </a:prstGeom>
          <a:solidFill>
            <a:srgbClr val="F0FFF4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736592" y="3108960"/>
            <a:ext cx="13898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Accra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6126480" y="3108960"/>
            <a:ext cx="1389888" cy="283464"/>
          </a:xfrm>
          <a:prstGeom prst="rect">
            <a:avLst/>
          </a:prstGeom>
          <a:solidFill>
            <a:srgbClr val="F0FFF4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126480" y="3108960"/>
            <a:ext cx="13898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7516368" y="3108960"/>
            <a:ext cx="1389888" cy="283464"/>
          </a:xfrm>
          <a:prstGeom prst="rect">
            <a:avLst/>
          </a:prstGeom>
          <a:solidFill>
            <a:srgbClr val="F0FFF4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7516368" y="3108960"/>
            <a:ext cx="13898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4736592" y="3392424"/>
            <a:ext cx="1389888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736592" y="3392424"/>
            <a:ext cx="13898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Accra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6126480" y="3392424"/>
            <a:ext cx="1389888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126480" y="3392424"/>
            <a:ext cx="13898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7516368" y="3392424"/>
            <a:ext cx="1389888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7516368" y="3392424"/>
            <a:ext cx="13898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4736592" y="3675888"/>
            <a:ext cx="1389888" cy="283464"/>
          </a:xfrm>
          <a:prstGeom prst="rect">
            <a:avLst/>
          </a:prstGeom>
          <a:solidFill>
            <a:srgbClr val="F0FFF4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4736592" y="3675888"/>
            <a:ext cx="13898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Kumasi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6126480" y="3675888"/>
            <a:ext cx="1389888" cy="283464"/>
          </a:xfrm>
          <a:prstGeom prst="rect">
            <a:avLst/>
          </a:prstGeom>
          <a:solidFill>
            <a:srgbClr val="F0FFF4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6126480" y="3675888"/>
            <a:ext cx="13898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7516368" y="3675888"/>
            <a:ext cx="1389888" cy="283464"/>
          </a:xfrm>
          <a:prstGeom prst="rect">
            <a:avLst/>
          </a:prstGeom>
          <a:solidFill>
            <a:srgbClr val="F0FFF4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7516368" y="3675888"/>
            <a:ext cx="13898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</a:t>
            </a:r>
            <a:endParaRPr lang="en-US" sz="1000" dirty="0"/>
          </a:p>
        </p:txBody>
      </p:sp>
      <p:sp>
        <p:nvSpPr>
          <p:cNvPr id="74" name="Text 71"/>
          <p:cNvSpPr/>
          <p:nvPr/>
        </p:nvSpPr>
        <p:spPr>
          <a:xfrm>
            <a:off x="4828032" y="40233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observation. Every column is a real variable. ML-ready. ✓</a:t>
            </a:r>
            <a:endParaRPr lang="en-US" sz="1050" dirty="0"/>
          </a:p>
        </p:txBody>
      </p:sp>
      <p:sp>
        <p:nvSpPr>
          <p:cNvPr id="75" name="Shape 72"/>
          <p:cNvSpPr/>
          <p:nvPr/>
        </p:nvSpPr>
        <p:spPr>
          <a:xfrm>
            <a:off x="246888" y="4069080"/>
            <a:ext cx="4160520" cy="658368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384048" y="412394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tidy = pd.melt(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df, id_vars='region',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var_name='year', value_name='sales'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73152"/>
            <a:ext cx="86868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6888" y="50292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.pivot_table() &amp; Table Normalisation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246888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04-data-analysis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1645920"/>
            <a:ext cx="9144000" cy="3200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Week 3 Topic 2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503920" y="482803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46888" y="1737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pivot_table goes Long → Wide. Normalisation splits one messy table into clean linked tables.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46888" y="2148840"/>
            <a:ext cx="4160520" cy="347472"/>
          </a:xfrm>
          <a:prstGeom prst="rect">
            <a:avLst/>
          </a:prstGeom>
          <a:solidFill>
            <a:srgbClr val="1A5C8A"/>
          </a:solidFill>
          <a:ln w="12700">
            <a:solidFill>
              <a:srgbClr val="1A5C8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8328" y="214884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.pivot_table() — Long to Wide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246888" y="2496312"/>
            <a:ext cx="4160520" cy="141732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4048" y="2551176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weather_tidy =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weather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.melt(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id_vars=['id','year','month'],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var_name='day', value_name='temp'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.pivot_table(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index=['id','year','month','day'],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columns='element',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values='temp'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.reset_index()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38328" y="395935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melt first to get one row per obs, then pivot to spread variables back to columns.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736592" y="2148840"/>
            <a:ext cx="4160520" cy="347472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28032" y="214884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— One Table Per Thing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736592" y="2496312"/>
            <a:ext cx="4160520" cy="141732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73752" y="2551176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Songs table — unique songs only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songs =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billboard[['artist','track','time']]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.drop_duplicates()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.assign(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song_id=lambda x: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range(1, len(x)+1)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Ranks table — weekly performance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linked to songs by song_id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828032" y="395935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data warehouses (Snowflake, BigQuery) are built on this exact structure.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46888" y="45994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Rule: If a song stays on the chart 20 weeks, artist &amp; track should NOT repeat 20 times.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4CB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73152"/>
            <a:ext cx="86868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6888" y="502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0" y="1078992"/>
            <a:ext cx="914400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46888" y="123444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246888" y="2788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that break chains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Week 3 Topic 2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503920" y="482803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73152"/>
            <a:ext cx="86868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6888" y="50292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Mistakes That Break Chains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246888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04-data-analysis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1645920"/>
            <a:ext cx="9144000" cy="3200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Week 3 Topic 2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503920" y="482803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46888" y="1737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Memorise these — they account for 90% of Pandas bugs in student code.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46888" y="2121408"/>
            <a:ext cx="347472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6888" y="2121408"/>
            <a:ext cx="347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94360" y="2121408"/>
            <a:ext cx="8293608" cy="310896"/>
          </a:xfrm>
          <a:prstGeom prst="rect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2121408"/>
            <a:ext cx="8065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 1:  inplace=True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94360" y="2432304"/>
            <a:ext cx="3931920" cy="493776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" y="2487168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BAD — returns None, breaks the chain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df.dropna(inplace=True)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result.sort_values('col')  # AttributeError!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0" y="2432304"/>
            <a:ext cx="4315968" cy="493776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09160" y="2487168"/>
            <a:ext cx="4087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GOOD — returns a new DataFrame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.dropna()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.sort_values('col')  # works ✓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46888" y="3017520"/>
            <a:ext cx="347472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46888" y="3017520"/>
            <a:ext cx="347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594360" y="3017520"/>
            <a:ext cx="8293608" cy="310896"/>
          </a:xfrm>
          <a:prstGeom prst="rect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" y="3017520"/>
            <a:ext cx="8065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 2:  No lambda in .assign()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94360" y="3328416"/>
            <a:ext cx="3931920" cy="493776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1520" y="3383280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BAD — new_col_1 doesn't exist yet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df.assign(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new_col_1=df['old'] * 2,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new_col_2=df['new_col_1'] / 10  # NameError!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572000" y="3328416"/>
            <a:ext cx="4315968" cy="493776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09160" y="3383280"/>
            <a:ext cx="4087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GOOD — lambda evaluates lazily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df.assign(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new_col_1=lambda x: x['old'] * 2,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new_col_2=lambda x: x['new_col_1'] / 10  # works ✓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246888" y="3913632"/>
            <a:ext cx="347472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46888" y="3913632"/>
            <a:ext cx="3474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594360" y="3913632"/>
            <a:ext cx="8293608" cy="310896"/>
          </a:xfrm>
          <a:prstGeom prst="rect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3232" y="3913632"/>
            <a:ext cx="8065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 3:  No parentheses around chain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94360" y="4224528"/>
            <a:ext cx="3931920" cy="493776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31520" y="4279392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BAD — one unreadable line, no way to comment out steps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df.dropna().assign(x=lambda d: d['a']*2).sort_values('x')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572000" y="4224528"/>
            <a:ext cx="4315968" cy="493776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709160" y="4279392"/>
            <a:ext cx="4087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GOOD — each step on its own line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.dropna()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.assign(x=lambda d: d['a'] * 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.sort_values('x')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73152"/>
            <a:ext cx="86868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6888" y="50292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Tips — When Data Gets Big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246888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04-data-analysis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1645920"/>
            <a:ext cx="9144000" cy="3200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Week 3 Topic 2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503920" y="482803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46888" y="1737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5,000 rows: minor savings. On millions: the difference between running and crashing.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46888" y="2121408"/>
            <a:ext cx="8641080" cy="987552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2176272"/>
            <a:ext cx="8412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Before optimisation: df.info() shows int64 and object everywhere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df['region'] = df['region'].astype('category')   # strings → category (50-90% memory saving)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df['year']   = df['year'].astype('int16')          # int64 → int16 (75% memory saving)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C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df['active'] = df['active'].astype('bool')         # object → bool (87% memory saving)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46888" y="3218688"/>
            <a:ext cx="1920240" cy="29260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6888" y="32186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/ Method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185416" y="3218688"/>
            <a:ext cx="3657600" cy="29260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185416" y="32186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870448" y="3218688"/>
            <a:ext cx="2377440" cy="29260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70448" y="32186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46888" y="3511296"/>
            <a:ext cx="19202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1752" y="351129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5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2167128" y="3511296"/>
            <a:ext cx="3456432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221992" y="3511296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string columns (region, status, gender)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623560" y="3511296"/>
            <a:ext cx="23774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78424" y="3511296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50–90% memory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246888" y="3767328"/>
            <a:ext cx="1920240" cy="246888"/>
          </a:xfrm>
          <a:prstGeom prst="rect">
            <a:avLst/>
          </a:prstGeom>
          <a:solidFill>
            <a:srgbClr val="F0FFF4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01752" y="376732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5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int8/int16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2167128" y="3767328"/>
            <a:ext cx="3456432" cy="246888"/>
          </a:xfrm>
          <a:prstGeom prst="rect">
            <a:avLst/>
          </a:prstGeom>
          <a:solidFill>
            <a:srgbClr val="F0FFF4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221992" y="3767328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Integers with small range (year, age, count)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623560" y="3767328"/>
            <a:ext cx="2377440" cy="246888"/>
          </a:xfrm>
          <a:prstGeom prst="rect">
            <a:avLst/>
          </a:prstGeom>
          <a:solidFill>
            <a:srgbClr val="F0FFF4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678424" y="376732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75–87% memory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246888" y="4023360"/>
            <a:ext cx="19202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01752" y="402336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5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float32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2167128" y="4023360"/>
            <a:ext cx="3456432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221992" y="4023360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numbers (doesn't need float64 precision)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5623560" y="4023360"/>
            <a:ext cx="23774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678424" y="402336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memory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246888" y="4279392"/>
            <a:ext cx="1920240" cy="246888"/>
          </a:xfrm>
          <a:prstGeom prst="rect">
            <a:avLst/>
          </a:prstGeom>
          <a:solidFill>
            <a:srgbClr val="F0FFF4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01752" y="427939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5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2167128" y="4279392"/>
            <a:ext cx="3456432" cy="246888"/>
          </a:xfrm>
          <a:prstGeom prst="rect">
            <a:avLst/>
          </a:prstGeom>
          <a:solidFill>
            <a:srgbClr val="F0FFF4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221992" y="4279392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 columns stored as object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5623560" y="4279392"/>
            <a:ext cx="2377440" cy="246888"/>
          </a:xfrm>
          <a:prstGeom prst="rect">
            <a:avLst/>
          </a:prstGeom>
          <a:solidFill>
            <a:srgbClr val="F0FFF4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678424" y="427939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memory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246888" y="4535424"/>
            <a:ext cx="19202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01752" y="453542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5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Parquet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2167128" y="4535424"/>
            <a:ext cx="3456432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2221992" y="4535424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files for production pipelines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5623560" y="4535424"/>
            <a:ext cx="23774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678424" y="4535424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60–90% vs CSV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246888" y="4791456"/>
            <a:ext cx="1920240" cy="246888"/>
          </a:xfrm>
          <a:prstGeom prst="rect">
            <a:avLst/>
          </a:prstGeom>
          <a:solidFill>
            <a:srgbClr val="F0FFF4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01752" y="479145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5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.query()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2167128" y="4791456"/>
            <a:ext cx="3456432" cy="246888"/>
          </a:xfrm>
          <a:prstGeom prst="rect">
            <a:avLst/>
          </a:prstGeom>
          <a:solidFill>
            <a:srgbClr val="F0FFF4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2221992" y="4791456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large DataFrames (uses numexpr engine)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5623560" y="4791456"/>
            <a:ext cx="2377440" cy="246888"/>
          </a:xfrm>
          <a:prstGeom prst="rect">
            <a:avLst/>
          </a:prstGeom>
          <a:solidFill>
            <a:srgbClr val="F0FFF4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678424" y="4791456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2–10× faster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95B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73152"/>
            <a:ext cx="86868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6888" y="6400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Exercise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246888" y="171907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 Analysis Pipeline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46888" y="213969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Load processed_startups.csv with pd.read_csv() — run all 5 exploration commands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46888" y="25603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Chain: .dropna() → .query() → .assign() to create a new derived column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46888" y="298094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Use .groupby().agg() to compute total and average funding by sector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46888" y="340156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Create a 2-panel plot: bar chart (companies by employees) + heatmap (correlations)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46888" y="382219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Melt the wide data into long format with .melt() — verify each row is one observation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46888" y="424281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Fix at least one column's dtype (e.g. convert a string to category) and compare df.info()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Week 3 Topic 2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503920" y="482803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73152"/>
            <a:ext cx="86868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6888" y="50292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— Week 3 Topic 2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246888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04-data-analysis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1645920"/>
            <a:ext cx="9144000" cy="3200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Week 3 Topic 2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503920" y="482803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46888" y="1737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Before Next Class  ·  Push to your GitHub repo  ·  Include a README.md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46888" y="2167128"/>
            <a:ext cx="347472" cy="402336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6888" y="2167128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94360" y="2121408"/>
            <a:ext cx="829360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2139696"/>
            <a:ext cx="8065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Notebook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13232" y="2359152"/>
            <a:ext cx="8065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 chain: read CSV → clean → filter → assign 2 new cols → groupby → sort. Zero intermediate variables.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46888" y="2679192"/>
            <a:ext cx="347472" cy="402336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46888" y="2679192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94360" y="2633472"/>
            <a:ext cx="829360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3232" y="2651760"/>
            <a:ext cx="8065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Multi-panel Plot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13232" y="2871216"/>
            <a:ext cx="8065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fig, (ax1, ax2, ax3) = plt.subplots(1, 3) — bar, boxplot (Seaborn), heatmap. Label all axes properly.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46888" y="3191256"/>
            <a:ext cx="347472" cy="402336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46888" y="319125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94360" y="3145536"/>
            <a:ext cx="829360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" y="3163824"/>
            <a:ext cx="8065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 Data Challenge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13232" y="3383280"/>
            <a:ext cx="8065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wide dataset (e.g. GDP by country/year), .melt() it to long format, explain why it's now tidy.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46888" y="3703320"/>
            <a:ext cx="347472" cy="402336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46888" y="3703320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594360" y="3657600"/>
            <a:ext cx="829360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13232" y="3675888"/>
            <a:ext cx="8065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dtype Optimisation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13232" y="3895344"/>
            <a:ext cx="8065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df.info() before and after converting at least 3 columns to efficient dtypes. Show the memory difference.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246888" y="4215384"/>
            <a:ext cx="347472" cy="402336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46888" y="4215384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594360" y="4169664"/>
            <a:ext cx="829360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2E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13232" y="4187952"/>
            <a:ext cx="8065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Push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713232" y="4407408"/>
            <a:ext cx="8065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notebook to ai-workshop repo. Include a markdown cell summarising your 3 biggest takeaways from Pandas 2.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73152"/>
            <a:ext cx="868680" cy="777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6888" y="50292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Rules to Carry Forward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246888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04-data-analysis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1645920"/>
            <a:ext cx="9144000" cy="3200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Week 3 Topic 2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503920" y="482803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46888" y="1737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rules apply to every data pipeline you will ever build.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46888" y="2157984"/>
            <a:ext cx="256032" cy="29260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6888" y="2157984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66928" y="21579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Chain, don't soup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83280" y="2157984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One pipeline, zero intermediate variables. If you create df1 just to use it on the next line — chain instead.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246888" y="2532888"/>
            <a:ext cx="256032" cy="29260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46888" y="2532888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66928" y="25328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lambda in .assign()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383280" y="253288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lambda x: lets you reference columns created earlier in the same .assign() call. Without it — NameError.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246888" y="2907792"/>
            <a:ext cx="256032" cy="29260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46888" y="2907792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66928" y="29077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inplace=True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383280" y="2907792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It returns None. Your chain dies silently. Always return a new DataFrame.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246888" y="3282696"/>
            <a:ext cx="256032" cy="29260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46888" y="3282696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66928" y="32826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plotting only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383280" y="3282696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fig, ax = plt.subplots() — always. Never plt.plot() directly.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246888" y="3657600"/>
            <a:ext cx="256032" cy="29260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46888" y="3657600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66928" y="36576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 before modelling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3383280" y="365760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Each variable is a column. Each observation is a row. .melt() fixes wide data.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246888" y="4032504"/>
            <a:ext cx="256032" cy="29260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46888" y="4032504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66928" y="40325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.dtypes early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3383280" y="4032504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object on a numeric column means strings are mixed in. Fix before analysis.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246888" y="4407408"/>
            <a:ext cx="256032" cy="29260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46888" y="4407408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566928" y="44074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for scale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3383280" y="440740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category, int16, float32 — small datasets forgive you. Million-row datasets don't.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34840" y="0"/>
            <a:ext cx="4709160" cy="514350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6888" y="384048"/>
            <a:ext cx="822960" cy="914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384048"/>
            <a:ext cx="411480" cy="91440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6888" y="50292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Thanks!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46888" y="19019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covered today: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6888" y="23042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Method chaining — professional pipelines, zero variable soup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888" y="2606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.assign(), .query(), .groupby().agg(), pd.concat()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29077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Explicit OOP plotting — fig, ax = plt.subplots()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" y="32095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Seaborn — statistical plots in one line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" y="35112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Heatmaps — detecting multicollinearity before modelling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" y="38130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Tidy data — the 3 rules, .melt(), .pivot_table()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" y="4114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dtype optimisation — category, int16, float32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" y="45079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 Next: Week 4 — Machine Learning with scikit-learn</a:t>
            </a:r>
            <a:endParaRPr lang="en-US" sz="11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777240"/>
            <a:ext cx="1645920" cy="14630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572000" y="24688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4572000" y="30175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with Python — Week 3 Topic 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0" y="44348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info@codetraingh.com  ·  www.codetraingh.com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34CB62"/>
          </a:solidFill>
          <a:ln w="12700">
            <a:solidFill>
              <a:srgbClr val="34CB6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46888" y="4828032"/>
            <a:ext cx="77724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Codetrain Africa  ·  AI with Python  ·  Week 3 Topic 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503920" y="4828032"/>
            <a:ext cx="50292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 Topic 2 — Pandas 2: Visualisation, Tidy Data &amp; Pipelines</dc:title>
  <dc:subject>PptxGenJS Presentation</dc:subject>
  <dc:creator>PptxGenJS</dc:creator>
  <cp:lastModifiedBy>PptxGenJS</cp:lastModifiedBy>
  <cp:revision>1</cp:revision>
  <dcterms:created xsi:type="dcterms:W3CDTF">2026-04-30T12:41:02Z</dcterms:created>
  <dcterms:modified xsi:type="dcterms:W3CDTF">2026-04-30T12:41:02Z</dcterms:modified>
</cp:coreProperties>
</file>