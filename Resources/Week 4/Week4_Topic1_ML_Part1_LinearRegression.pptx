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960120"/>
            <a:ext cx="822960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25880" y="960120"/>
            <a:ext cx="548640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1155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Topic 1  ·  Month 2 Begins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813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Part 1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+ Linear Regression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090672"/>
            <a:ext cx="8138160" cy="1371600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41985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ML? — Fundamental shift, 3 types, supervised learning tasks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67588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Math foundation — y=mx+c, deriving from temperature 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93192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 notation — ŷ vs y, weight (w), bias (b), error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18795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House price prediction — sklearn, train/test split, R² score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44398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Multiple features — one-hot encoding, feature scaling, StandardScaler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73168" y="341985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Real Ghana housing dataset — EDA, preprocessing, feature engineering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73168" y="367588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Loss functions — MSE, RMSE, MAE — when to use which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73168" y="393192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Regression vs Classification — decision framework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73168" y="418795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Practice exercise — car price prediction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— The Fundamental Shift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programming YOU write the rules. In ML the COMPUTER discovers the rules from data: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3895344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6824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Programming — You write the rules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3895344" cy="10607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06654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write EVERY rule explicitly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temperature &gt; 30: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print("Hot day!")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temperature &lt; 20: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print("Cool day!")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print("Pleasant day!")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1664208"/>
            <a:ext cx="4069080" cy="25603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6824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Machine Learning — Computer discovers the rules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1956816"/>
            <a:ext cx="4069080" cy="10607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066544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provide EXAMPLES — model finds the pattern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(30°C, "Hot"), (19°C, "Cool"), (25°C, "Pleasant")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learns: temp&gt;30 → "Hot", temp&lt;20 → "Cool"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predicts on NEW temperatures it hasn't seen!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312724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Machine Learning is the science of getting computers to act without being explicitly programmed — they learn patterns from data instead.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3621024"/>
            <a:ext cx="8138160" cy="2743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64845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880360" y="364845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66360" y="364845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931920"/>
            <a:ext cx="2651760" cy="120700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LABELED examples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Predict house prices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" y="4626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Most real-world ML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300984" y="3931920"/>
            <a:ext cx="2651760" cy="120700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92424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patterns, no labels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92424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Customer segmentation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392424" y="4626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Exploratory analysis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99048" y="3931920"/>
            <a:ext cx="2651760" cy="1207008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90488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through trial and ERROR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90488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Self-driving cars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190488" y="4626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Robotics, games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Supervised Learning Tasks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supervised learning, there are TWO main problem types. Choosing the right one is your first ML decision: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3895344" cy="3273552"/>
          </a:xfrm>
          <a:prstGeom prst="rect">
            <a:avLst/>
          </a:prstGeom>
          <a:solidFill>
            <a:srgbClr val="FAFAFA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664208"/>
            <a:ext cx="3895344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71907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REGRESSION — Predict Numbers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12140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a CONTINUOUS value — any number on a scale: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2414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House price: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24140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₵250,000 · ₵420,000 · ₵185,000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Temperature: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011680" y="27980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25.3°C · 31.7°C · 18.2°C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3182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Sales: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011680" y="3182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 units · 3,400 units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3566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Crop yield: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011680" y="35661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tonnes · 2.8 tonnes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" y="3950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Loan amount: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11680" y="39502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5,000 · GHS 15,000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44622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R² · RMSE · MAE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0" y="1664208"/>
            <a:ext cx="4069080" cy="3273552"/>
          </a:xfrm>
          <a:prstGeom prst="rect">
            <a:avLst/>
          </a:prstGeom>
          <a:solidFill>
            <a:srgbClr val="FAFAF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1664208"/>
            <a:ext cx="406908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17190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CLASSIFICATION — Predict Categories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63440" y="21214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a DISCRETE label — one of a fixed set of options: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63440" y="2414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89904" y="24140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Not Spam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6344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089904" y="279806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vs. Dog vs. Bird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63440" y="3182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Medical test: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89904" y="31821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vs. Negative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63440" y="3566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Loan approval: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89904" y="356616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vs. Rejected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63440" y="3950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Crop disease: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089904" y="395020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vs. Mosaic vs. Blight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663440" y="4462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 · Precision · Recall · F1 · ROC-AUC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mx + c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intuition with temperature — we do ML manually!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Foundation — Celsius to Fahrenheit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know: 0°C = 32°F and 100°C = 212°F. The data forms a STRAIGHT LINE — that's linear regression: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468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matplotlib.pyplot as plt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 known data 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    = np.array([0, 100])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 = np.array([32, 212])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5))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ax.scatter(celsius, fahrenheit,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color='teal', s=200, zorder=5,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label='Known Points')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ax.plot(celsius, fahrenheit,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color='coral', linewidth=3,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label='Trend Line')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ax.set_xlabel('Celsius (°C)', fontsize=12)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ax.set_ylabel('Fahrenheit (°F)', fontsize=12)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ax.set_title('Linear Relationship', fontsize=14,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fontweight='bold')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ax.grid(True, alpha=0.3)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insight: data points form a STRAIGHT 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the foundation of linear regression!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468880"/>
          </a:xfrm>
          <a:prstGeom prst="rect">
            <a:avLst/>
          </a:prstGeom>
          <a:solidFill>
            <a:srgbClr val="FAFAFA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664208"/>
            <a:ext cx="4224528" cy="2743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68249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Formula — y = mx + 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01184" y="1993392"/>
            <a:ext cx="4059936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74336" y="201168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Calculate slope (m)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74336" y="219456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(212 - 32) / (100 - 0) = 180/100 = 1.8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01184" y="2487168"/>
            <a:ext cx="4059936" cy="420624"/>
          </a:xfrm>
          <a:prstGeom prst="rect">
            <a:avLst/>
          </a:prstGeom>
          <a:solidFill>
            <a:srgbClr val="F0FFF4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74336" y="25054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 y-intercept (c)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74336" y="268833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x=0, y=32: → 32 = 1.8×0 + c → c = 32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01184" y="2980944"/>
            <a:ext cx="4059936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74336" y="299923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Complete formula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74336" y="318211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1.8 × C + 32  ✅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01184" y="3474720"/>
            <a:ext cx="4059936" cy="420624"/>
          </a:xfrm>
          <a:prstGeom prst="rect">
            <a:avLst/>
          </a:prstGeom>
          <a:solidFill>
            <a:srgbClr val="F0FFF4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74336" y="349300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Test on new data (50°C)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74336" y="36758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1.8 × 50 + 32 = 90 + 32 = 122°F  ✓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" y="4206240"/>
            <a:ext cx="8138160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4206240"/>
            <a:ext cx="73152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261104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We just did ML manually! We collected data → found pattern → derived formula → predicted new values. ML algorithms do the same automatically — with much more data!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Notation — From y=mx+c to ŷ = b + wx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maths — but with ML-standard variable names. Every AI paper and library uses this notation: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8138160" cy="2743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Notation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57400" y="16916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Notation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11880" y="1691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32120" y="16916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1993392"/>
            <a:ext cx="813816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57400" y="2084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 (y-hat)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32120" y="20848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house price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2468880"/>
            <a:ext cx="8138160" cy="42062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5740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(bias)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1188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y-intercept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32120" y="25603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land value (₵50,000)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2944368"/>
            <a:ext cx="813816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05740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(weight)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11880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/ slope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532120" y="30358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₵200 per sqm added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3419856"/>
            <a:ext cx="8138160" cy="42062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3511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057400" y="3511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(feature)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61188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532120" y="35112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size in sqm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02920" y="3931920"/>
            <a:ext cx="3895344" cy="804672"/>
          </a:xfrm>
          <a:prstGeom prst="rect">
            <a:avLst/>
          </a:prstGeom>
          <a:solidFill>
            <a:srgbClr val="1B2A4A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402336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 + wx</a:t>
            </a:r>
            <a:endParaRPr lang="en-US" sz="2800" dirty="0"/>
          </a:p>
        </p:txBody>
      </p:sp>
      <p:sp>
        <p:nvSpPr>
          <p:cNvPr id="37" name="Shape 34"/>
          <p:cNvSpPr/>
          <p:nvPr/>
        </p:nvSpPr>
        <p:spPr>
          <a:xfrm>
            <a:off x="4572000" y="3931920"/>
            <a:ext cx="4069080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CC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3986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ŷ vs y — the critical difference: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663440" y="42428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(no hat) = ACTUAL value from the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(with hat) = PREDICTED value from the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ŷ − y    ML tries to minimise this!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ML Model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· train_test_split · LinearRegression · R² score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Our First Model — Ghana House Prices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Ghana house prices from size (sqm). One feature, one label — the simplest possible ML model: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30723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  # reproducibility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random_state=42 → same result every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"42" = playful ref to Hitchhiker's Guide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Synthetic Ghana housing data — 1 feature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size_sqm  = np.random.randint(80, 400,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 formula: 200 GHS/sqm + 50,000 base + noise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price_ghs = (size_sqm * 200 + 50000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np.random.normal(0, 15000, 100))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df_houses = pd.DataFrame({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'size_sqm': size_sqm,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'price_ghs': price_ghs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print(df_houses.head(5))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print(f"Price range: ₵{df_houses['price_ghs'].min():,.0f}"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 — ₵{df_houses['price_ghs'].max():,.0f}")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30723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1773936"/>
            <a:ext cx="3895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Prepare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df_houses[['size_sqm']]  # MUST be 2D array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df_houses['price_ghs']   # 1D array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into TRAINING and TESTING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test_size=0.2 → 20% for testing, 80% for training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and TRAIN the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# ← the learning step!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print("✅ Model trained!")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print(f"Weight (w): ₵{model.coef_[0]:,.2f} per sqm")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print(f"Bias  (b): ₵{model.intercept_:,.2f} base")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PREDICTIONS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mean_squared_error(y_test,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= r2_score(y_test,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 Score: {r2:.3f}")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R²=0.85 → 85% of price variation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explained by house SIZE alone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R² Score &amp; Model Parameters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what the model learned — from parameters to performance metrics: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1579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Interpreting model parameters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print(f"Weight (w): ₵{model.coef_[0]:,.2f} per sqm")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↑ Each extra sqm adds ~₵200 to the price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print(f"Bias  (b): ₵{model.intercept_:,.2f}")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↑ Base price (land value) when size = 0 sqm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predictions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pd.DataFrame({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'Size_sqm':      X_test['size_sqm'].values,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'Actual_GHS':    y_test.values,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'Predicted_GHS': y_pred,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'Error_GHS':     y_pred - y_test.values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print(results.head(5).round(0))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157984"/>
          </a:xfrm>
          <a:prstGeom prst="rect">
            <a:avLst/>
          </a:prstGeom>
          <a:solidFill>
            <a:srgbClr val="FAFAFA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664208"/>
            <a:ext cx="4224528" cy="2743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68249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— How Good is the Model?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9472" y="1993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1.0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81344" y="199339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prediction — model is exact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1947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0.85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81344" y="235915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price variation explained by 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19472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0.50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81344" y="272491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explained — model is mediocre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1947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81344" y="309067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as good as predicting the average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19472" y="3456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&lt;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81344" y="345643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predicting the mean — check code!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913632"/>
            <a:ext cx="4224528" cy="1060704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9867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Visualising the model: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" y="4242816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actual prices (teal dots) + regression line (coral)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line tries to MINIMISE the total distance to all dots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That process of minimising distance is how ML LEARNS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28032" y="3913632"/>
            <a:ext cx="4224528" cy="1060704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3986784"/>
            <a:ext cx="4041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a one-feature model, R²~0.85 is good.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 (rooms, location) → R² improves.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= more patterns the model can learn.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Features — One-Hot Encoding &amp; Feature Scaling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houses have more than size. Add rooms + location. But ML can't read text — encode categories first: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feature formula: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ŷ = b + w1*x1 + w2*x2 + w3*x3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x1=size, x2=num_rooms, x3=location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size_sqm  = np.random.randint(80, 400,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num_rooms = np.random.randint(1, 6,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 = ['Accra','Kumasi','Tamale']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 = np.random.choice(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locations, 100, p=[0.5, 0.35, 0.15])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location_premium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'Accra': 50000, 'Kumasi': 25000, 'Tamale': 10000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price_ghs = (size_sqm*200 + num_rooms*15000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np.array([location_premium[l] for l in location])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np.random.normal(0, 20000, 100))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'size_sqm': size_sqm,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'num_rooms': num_rooms,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'location': location,  # TEXT — needs encoding!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'price_ghs': price_ghs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ENCODING — text → numbers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df_encoded = pd.get_dummies(df,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columns=['location'], prefix='loc')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print(df_encoded.head(3))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1773936"/>
            <a:ext cx="38953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encoding creates binary columns: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location=Accra → loc_Accra=1, loc_Kumasi=0, loc_Tamale=0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location=Kumasi→ loc_Accra=0, loc_Kumasi=1, loc_Tamale=0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SCALING — why it matters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size_sqm: 80-400   (large numbers)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num_rooms: 1-6     (small numbers)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loc_*: 0 or 1      (binary)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Different scales can confuse some algorithms!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feature_cols = ['size_sqm','num_rooms',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'loc_Accra','loc_Kumasi','loc_Tamale']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df_encoded[feature_cols]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df_encoded['price_ghs']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StandardScaler: mean=0, std=1 per feature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 = scaler.fit_transform(X_train)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  = scaler.transform(X_test)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CRITICAL: fit_transform on TRAIN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 (not fit_transform) on TEST!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model_multi = LinearRegression()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model_multi.fit(X_train_scaled,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y_pred_multi = model_multi.predict(X_test_scaled)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print(f"R²: {r2_score(y_test, y_pred_multi):.3f}")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4297680"/>
            <a:ext cx="8138160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297680"/>
            <a:ext cx="73152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352544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Critical: fit_transform() on TRAINING data only. Then transform() (not fit_transform) on TEST data. Never let the test set influence the scaler!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Ghana Data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Housing Dataset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Preprocessing · Feature Engineering · Full ML Workflow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Ghana Housing Data — EDA &amp; Preprocessing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Ghana housing dataset from Kaggle — full professional ML workflow from raw data to model: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999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urllib.request, pandas as pd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from local or download from 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data_path = 'data/house_rentals.csv'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os.path.exists(data_path):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os.makedirs('data', exist_ok=True)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 = ("https://raw.githubusercontent.com/"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"Speedykom/GIZ_GhanaAI_Training_Materials"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"/main/05-machine-learning/data/house_rentals.csv")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urllib.request.urlretrieve(url, data_path)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df_ghana = pd.read_csv(data_path)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print(f"Shape: {df_ghana.shape}")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print(f"Columns: {df_ghana.columns.tolist()}")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EDA — explore the dataset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print(df_ghana['price'].describe())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print(df_ghana['region'].value_counts())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print(df_ghana['category'].value_counts())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4-panel EDA visualisation (from source)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 2, figsize=(9, 8))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ax[0,0]: Price distribution — histogram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ax[0,1]: Price vs Floor Area — scatter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ax[1,0]: Price by Bedrooms — boxplot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ax[1,1]: Price by Region (top 10) — bar chart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999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1773936"/>
            <a:ext cx="38953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PREPROCESSING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['bedrooms','bathrooms','floor_area',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'category','region','condition',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'parking_space','is_furnished']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df_model = df_ghana[features + ['price']].copy()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and handle missing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print(df_model.isnull().sum())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df_model = df_model.dropna(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subset=['bedrooms','bathrooms','floor_area','price'])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df_model['condition'] = df_model['condition'].fillna(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df_model['condition'].mode()[0])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outliers (0.5th to 99.5th percentile)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q_low  = df_model['price'].quantile(0.005)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q_high = df_model['price'].quantile(0.995)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df_model = df_model[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(df_model['price'] &gt;= q_low)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(df_model['price'] &lt;= q_high)]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print(f"After cleaning: {df_model.shape}")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ENGINEERING — one-hot encode categoricals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df_enc = pd.get_dummies(df_model,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columns=['category','region',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'condition','is_furnished'],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drop_first=True)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print(f"Features after encoding: {df_enc.shape[1]-1}")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Housing — Training, Evaluation &amp; Feature Importance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real dataset, evaluate with multiple metrics, and interpret which features drive prices most: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743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(mean_squared_error,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r2_score)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df_enc.drop('price', axis=1)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df_enc['price']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 = scaler.fit_transform(X_train)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  = scaler.transform(X_test)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model_gh = LinearRegression()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model_gh.fit(X_train_s,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  = model_gh.predict(X_test_s)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 = mean_squared_error(y_test,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np.sqrt(mse)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= r2_score(y_test, y_pred)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print(f"RMSE: ₵{rmse:,.0f}")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print(f"R²:   {r2:.3f}")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RMSE=₵2500 → avg prediction off by ₵2500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R²=0.75   → 75% of price variation explained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743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1773936"/>
            <a:ext cx="389534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IMPORTANCE — which features matter most?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feat_imp = pd.DataFrame({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'Feature':         X.columns,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'Coefficient':     model_gh.coef_,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'Abs_Coefficient': np.abs(model_gh.coef_)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}).sort_values('Abs_Coefficient', 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print("Top 10 most important features:")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print(feat_imp.head(10).round(2))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VISUALISE: horizontal bar chart (from source)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Green bars = positive impact (price goes UP)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Coral bars = negative impact (price goes DOWN)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e.g. floor_area: positive → bigger = pricier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certain regions: positive → area premium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INTERPRETING RESULTS (from source):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RMSE of ₵2500 → avg off by ₵2500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R² of 0.75    → model explains 75% of variation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features: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• floor_area    — bigger = higher price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• region        — Accra commands premium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• category      — detached &gt; apartment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• bedrooms/baths — more rooms = higher price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to baseline (predicting mean price):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baseline_r2 = r2_score(y_test,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[y_train.mean()] * len(y_test))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print(f"Baseline R²: {baseline_r2:.3f}")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print(f"Improvement: {(r2-baseline_r2):.3f}")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— MSE, RMSE, MAE — When to Use Which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measure prediction error. Choosing the right one changes what your model optimises for: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3042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all three loss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 = mean_squared_error(y_test,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np.sqrt(mse)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 = np.mean(np.abs(y_test - y_pred))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print("Loss Functions Comparison:")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MSE:  {mse:,.0f}   (in GHS²)")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RMSE: ₵{rmse:,.0f}  (in GHS — interpretable!)")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MAE:  ₵{mae:,.0f}  (in GHS — robust to outliers)")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with 3 predictions: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 = [500, -1200, 3000]  # actual - predicted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squared_errors = [e**2 for e in errors]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abs_errors     = [abs(e) for e in errors]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Errors: {errors}")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MSE:  {sum(squared_errors)/len(errors):,.0f}")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RMSE: {(sum(squared_errors)/len(errors))**0.5:,.0f}")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MAE:  {sum(abs_errors)/len(errors):,.0f}")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Why we prefer RMSE over MSE: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RMSE is in same UNIT as target (GHS)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MSE is in squared units (GHS²) — hard to interpret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5603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9472" y="16824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12864" y="168249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0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28032" y="1956816"/>
            <a:ext cx="4224528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9472" y="20299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regression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12864" y="2029968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MSE/RMSE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138160" y="20299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differentiable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28032" y="2377440"/>
            <a:ext cx="4224528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9472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912864" y="245059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138160" y="2450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 as GHS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828032" y="2798064"/>
            <a:ext cx="4224528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19472" y="28712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with outliers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12864" y="2871216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138160" y="2871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to extremes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28032" y="3218688"/>
            <a:ext cx="4224528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3291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912864" y="329184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138160" y="3291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0-1 scale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28032" y="3639312"/>
            <a:ext cx="4224528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19472" y="3712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(log scale)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912864" y="371246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log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13816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ranges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28032" y="4059936"/>
            <a:ext cx="4224528" cy="786384"/>
          </a:xfrm>
          <a:prstGeom prst="rect">
            <a:avLst/>
          </a:prstGeom>
          <a:solidFill>
            <a:srgbClr val="FFF5F5"/>
          </a:solidFill>
          <a:ln w="10160">
            <a:solidFill>
              <a:srgbClr val="CC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19472" y="41148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Mistakes with Loss Functions (from source):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919472" y="435254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Using MSE on data with outliers — squared term amplifies them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Interpreting MSE directly — it's in GHS², not GHS. Use RMSE.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R²&lt;0 does NOT mean no correlation — means worse than predicting mean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 Classification — The Decision Framework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decision in any ML project. Ask: is my target a number or a category?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664208"/>
            <a:ext cx="2743200" cy="384048"/>
          </a:xfrm>
          <a:prstGeom prst="rect">
            <a:avLst/>
          </a:prstGeom>
          <a:solidFill>
            <a:srgbClr val="1B2A4A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700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target a number or a category?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304288"/>
            <a:ext cx="374904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NUMBER → REGRESSION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2706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Continuous value (price, temperature, sales)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Count/quantity (number of items)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Any value in a numeric range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Use: R², RMSE, MAE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096512"/>
            <a:ext cx="3749040" cy="237744"/>
          </a:xfrm>
          <a:prstGeom prst="rect">
            <a:avLst/>
          </a:prstGeom>
          <a:solidFill>
            <a:srgbClr val="E8F5E9"/>
          </a:solidFill>
          <a:ln w="635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House price · Sales forecasting · Temperature · Crop yield · Customer LTV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892040" y="2304288"/>
            <a:ext cx="374904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CATEGORY → CLASSIFICATION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706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Binary class (2 options: spam/not spam)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9204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Multi-class (&gt;2 options: cat/dog/bird)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Discrete label (categories: A/B/C)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9204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  Use: Accuracy, Precision, Recall, F1, ROC-AUC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92040" y="4096512"/>
            <a:ext cx="3749040" cy="237744"/>
          </a:xfrm>
          <a:prstGeom prst="rect">
            <a:avLst/>
          </a:prstGeom>
          <a:solidFill>
            <a:srgbClr val="E3F2FD"/>
          </a:solidFill>
          <a:ln w="6350">
            <a:solidFill>
              <a:srgbClr val="1A5C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Spam detection · Fraud detection · Disease diagnosis · Churn prediction · Image recognition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02920" y="4425696"/>
            <a:ext cx="8138160" cy="475488"/>
          </a:xfrm>
          <a:prstGeom prst="rect">
            <a:avLst/>
          </a:prstGeom>
          <a:solidFill>
            <a:srgbClr val="FFF5F5"/>
          </a:solidFill>
          <a:ln w="10160">
            <a:solidFill>
              <a:srgbClr val="CC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498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Common mistakes: Don't bin house prices into cheap/mid/expensive (regression is more accurate) · Don't predict probability of spam as a raw number — use classification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Checklist &amp; Summary (Source §7)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ML engineer must be able to check off ALL of these after completing a regression task: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8138160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664208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17282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24128" y="17373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regression and classification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084832"/>
            <a:ext cx="8138160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084832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1488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4128" y="21579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ŷ vs y (prediction vs actual) and what the error means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505456"/>
            <a:ext cx="8138160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2505456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256946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" y="25786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interpret weights (w) and bias (b) in a trained model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2926080"/>
            <a:ext cx="8138160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2926080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299008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24128" y="29992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use one-hot encoding for categorical features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3346704"/>
            <a:ext cx="8138160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3346704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" y="34107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24128" y="34198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feature scaling matters and how StandardScaler works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3767328"/>
            <a:ext cx="8138160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3767328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" y="383133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24128" y="38404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calculate and interpret R² score — including what R²&lt;0 means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" y="4187952"/>
            <a:ext cx="8138160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" y="4187952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3504" y="42519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24128" y="4261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all three loss functions: MSE · RMSE · MAE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02920" y="4608576"/>
            <a:ext cx="8138160" cy="365760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2920" y="4608576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3504" y="46725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24128" y="46817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use each loss function (outliers → MAE, general → RMSE)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5029200"/>
            <a:ext cx="8138160" cy="36576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5029200"/>
            <a:ext cx="64008" cy="36576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3504" y="50932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24128" y="51023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evaluation metrics for regression problems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02920" y="5504688"/>
            <a:ext cx="8138160" cy="402336"/>
          </a:xfrm>
          <a:prstGeom prst="rect">
            <a:avLst/>
          </a:prstGeom>
          <a:solidFill>
            <a:srgbClr val="1B2A4A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5800" y="5559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 + wx   (single feature)   |   ŷ = b + w₁x₁ + w₂x₂ + w₃x₃   (multiple features)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5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Agriculture — Ghana Crop Yield Regression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cocoa yield (kg) from farm characteristics. Build your first full ML pipeline on Ghana farm data.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4059936"/>
            <a:ext cx="713232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6152" y="4059936"/>
            <a:ext cx="475488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Generate synthetic data: farm_size_acres, rainfall_mm, fertiliser_kg, num_workers, yield_kg (100 farms)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386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EDA: print .describe(), plot scatter of farm_size vs yield. What relationship do you see?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Split into train/test (80/20). Train a LinearRegression model on farm_size only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26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Print weight (model.coef_) and bias (model.intercept_). Interpret: what does each extra acre add?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346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all 4 features. Apply StandardScaler. Re-train. Compare single-feature R² vs multi-feature R²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Print RMSE (in kg) and R². Visualise predicted vs actual yield on a scatter plot with diagonal 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95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Banking — GCB Loan Amount Predictor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approved loan amount from applicant features. Practice encoding and scaling on real-world data.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4059936"/>
            <a:ext cx="713232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6152" y="4059936"/>
            <a:ext cx="475488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Generate 150 loan applications: income_ghs, employment_years, credit_score, region, has_collateral, loan_amount_ghs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386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pd.get_dummies() to one-hot encode 'region' and 'has_collateral'. Show before/after column count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StandardScaler. Split 80/20. Train LinearRegression. Print all feature coefficients ranked by absolute value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26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Calculate and print MSE, RMSE, MAE. Explain: which would you report to a bank manager and why?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346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Calculate baseline R² (predicting mean loan amount). Show how much better your model is vs 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Identify the top 3 features by coefficient. Write a markdown cell interpreting: what drives loan amounts most?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 — Car Price Prediction (Source §9)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practice exercise from the source — build a complete regression model on Ghana car price data: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664208"/>
            <a:ext cx="4224528" cy="2578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773936"/>
            <a:ext cx="38953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car price data (from source)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car_data = pd.DataFrame({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'car_age_years':  np.random.randint(1, 15, 100),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'mileage_km':     np.random.randint(10000, 200000, 100),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'engine_size_cc': np.random.choice(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[1200,1500,1800,2000], 100),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'price_ghs':      np.random.randint(20000, 150000,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print(car_data.describe())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print(car_data.corr()['price_ghs'])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28032" y="1664208"/>
            <a:ext cx="4224528" cy="2578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1773936"/>
            <a:ext cx="38953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TASKS (from source §9):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Explore data — describe(), correlations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Visualise relationships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car_age vs price: scatter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mileage vs price: scatter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Train a LinearRegression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Use all 3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Apply StandardScaler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train_test_split (80/20)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Interpret coefficients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Which feature has biggest impact?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Is car age positive or negative?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Calculate R²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- Use model.coef_, model.intercept_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Hint: Use model.coef_ and model.intercept_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to interpret results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 INSIGHTS: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• Older cars → lower price (negative coef)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• Higher mileage → lower price (negative coef)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• Larger engine → higher price (positive coef)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4334256"/>
            <a:ext cx="8138160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34CB6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34256"/>
            <a:ext cx="73152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389120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Expected R² ~0.3-0.5 — random data won't have strong patterns. With real car data, expect R² ~0.65-0.80. The workflow is the same regardless of R².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502920" cy="6766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Week 4 Topic 1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1024128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058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05-ML1  ·  Due before next class  ·  Jupyter Notebook via LMS + GitHub  ·  Ghana sector project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end-to-end ML regression pipeline on your Ghana sector dataset.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664208"/>
            <a:ext cx="4005072" cy="694944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" y="1865376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23544" y="1719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23544" y="1975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markdown cell: what are you predicting (y)? What features (X)? Is this regression or classification? Justify your answer using the decision framework.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2432304"/>
            <a:ext cx="400507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" y="2633472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4-Panel Viz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23544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4-panel figure (fig, axes = plt.subplots(2,2)): distribution, scatter vs target, boxplot by category, bar chart by region. OOP throughout.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3200400"/>
            <a:ext cx="4005072" cy="694944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" y="3401568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" y="3255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3544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with dropna() and fillna(). Remove outliers using quantile(0.005) and quantile(0.995). Show shape before and after each step.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3968496"/>
            <a:ext cx="400507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6072" y="4169664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23544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23544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pd.get_dummies() to all categorical columns. Show the number of features before and after encoding. Explain what one-hot encoding does and why.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3440" y="1664208"/>
            <a:ext cx="4005072" cy="694944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36592" y="1865376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592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84064" y="1719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+ Scale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84064" y="1975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train_test_split(X, y, test_size=0.2, random_state=42). Apply StandardScaler — fit_transform on train, transform only on test. Explain this critical difference.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63440" y="2432304"/>
            <a:ext cx="400507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36592" y="2633472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3659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084064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084064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LinearRegression. Print all coefficients ranked by absolute value. Calculate MSE, RMSE, MAE, R². Compare to baseline. Visualise predicted vs actual.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3200400"/>
            <a:ext cx="4005072" cy="694944"/>
          </a:xfrm>
          <a:prstGeom prst="rect">
            <a:avLst/>
          </a:prstGeom>
          <a:solidFill>
            <a:srgbClr val="FAFA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36592" y="3401568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36592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084064" y="3255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Analysis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084064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 3 loss functions. In a markdown cell: which would you report to a stakeholder? Which is most appropriate for your sector data? Why?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663440" y="3968496"/>
            <a:ext cx="400507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736592" y="4169664"/>
            <a:ext cx="274320" cy="274320"/>
          </a:xfrm>
          <a:prstGeom prst="oval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36592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084064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Report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084064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5 most important features. Write a markdown cell interpreting each: does the sign make sense? What does this tell you about your Ghana sector?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768096" cy="5029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1016" y="822960"/>
            <a:ext cx="512064" cy="502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5915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ML? — supervised, unsupervised, reinforcement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9689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 tasks: regression (numbers) vs classification (categories)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Math foundation — y=mx+c → deriving from temperature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notation — ŷ, b, w, x — and why ŷ vs y matters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model — sklearn, fit(), predict(), R²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Multiple features — one-hot encoding, StandardScaler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78561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Ghana housing data — EDA, preprocessing, pipeline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 — coefficients ranked by absolute value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26110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Loss functions — MSE · RMSE · MAE — when to use each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49884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Regression vs Classification — decision framework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809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Next: Week 4 Topic 2 — 🎯 Mini Demo Day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0109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showcase — students present Ghana sector projects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05840"/>
            <a:ext cx="1463040" cy="195681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6634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663440" y="3621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— Week 4 Topic 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63440" y="40416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info@codetraingh.com  ·  www.codetraingh.com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Codetrain Africa  ·  AI with Python  ·  Week 4 Topic 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Topic 1 — ML Part 1: What is ML? + Linear Regression</dc:title>
  <dc:subject>PptxGenJS Presentation</dc:subject>
  <dc:creator>Codetrain Africa</dc:creator>
  <cp:lastModifiedBy>Codetrain Africa</cp:lastModifiedBy>
  <cp:revision>1</cp:revision>
  <dcterms:created xsi:type="dcterms:W3CDTF">2026-04-15T07:54:20Z</dcterms:created>
  <dcterms:modified xsi:type="dcterms:W3CDTF">2026-04-15T07:54:20Z</dcterms:modified>
</cp:coreProperties>
</file>