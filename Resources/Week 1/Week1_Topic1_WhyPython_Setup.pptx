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KXLoyGs38KgBRJHjbLwkAC2pl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EF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502920" y="960120"/>
            <a:ext cx="822960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325880" y="960120"/>
            <a:ext cx="548640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02920" y="117043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Week 1  ·  Topic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1536192"/>
            <a:ext cx="8046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Why Python for AI?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2249424"/>
            <a:ext cx="8046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+ Environment Setup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" y="2999232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Understanding the landscape · Installing uv · Setting up VS Code · Your first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02920" y="34015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00-welcome  ·  01-setup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CB6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502920" y="960120"/>
            <a:ext cx="713232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216152" y="960120"/>
            <a:ext cx="475488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02920" y="107899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02920" y="1645920"/>
            <a:ext cx="8229600" cy="22860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0292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Python for AI?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02920" y="2578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language landscape in 2026 and why Python wins for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Language Landscape in 2026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00-welcome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502920" y="1353312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As MERN developers, you already know JavaScript. So why learn Python for AI?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02920" y="1792224"/>
            <a:ext cx="1956816" cy="263347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02920" y="1792224"/>
            <a:ext cx="1956816" cy="34747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94360" y="18288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94360" y="2231136"/>
            <a:ext cx="1773936" cy="237744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94360" y="2249424"/>
            <a:ext cx="1773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AI &amp; Data Science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94360" y="2578608"/>
            <a:ext cx="177393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Faster to write · Massive AI ecosystem · Every model uses 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587752" y="1792224"/>
            <a:ext cx="1956816" cy="263347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2587752" y="1792224"/>
            <a:ext cx="1956816" cy="34747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2679192" y="18288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679192" y="2231136"/>
            <a:ext cx="1773936" cy="237744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2679192" y="2249424"/>
            <a:ext cx="1773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Systems &amp; Performance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679192" y="2578608"/>
            <a:ext cx="177393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No GC pauses · Memory-safe · Powers tools like uv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672584" y="1792224"/>
            <a:ext cx="1956816" cy="263347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672584" y="1792224"/>
            <a:ext cx="1956816" cy="347472"/>
          </a:xfrm>
          <a:prstGeom prst="rect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764024" y="18288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764024" y="2231136"/>
            <a:ext cx="1773936" cy="237744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764024" y="2249424"/>
            <a:ext cx="1773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8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5C8A"/>
                </a:solidFill>
                <a:latin typeface="Calibri"/>
                <a:ea typeface="Calibri"/>
                <a:cs typeface="Calibri"/>
                <a:sym typeface="Calibri"/>
              </a:rPr>
              <a:t>Cloud &amp; DevOps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764024" y="2578608"/>
            <a:ext cx="177393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Simple · Fast to build APIs · Docker, Kubernetes written in Go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757416" y="1792224"/>
            <a:ext cx="1956816" cy="263347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8A4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757416" y="1792224"/>
            <a:ext cx="1956816" cy="347472"/>
          </a:xfrm>
          <a:prstGeom prst="rect">
            <a:avLst/>
          </a:prstGeom>
          <a:solidFill>
            <a:srgbClr val="8A4A1A"/>
          </a:solidFill>
          <a:ln cap="flat" cmpd="sng" w="12700">
            <a:solidFill>
              <a:srgbClr val="8A4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848856" y="18288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848856" y="2231136"/>
            <a:ext cx="1773936" cy="237744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8A4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848856" y="2249424"/>
            <a:ext cx="1773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4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A4A1A"/>
                </a:solidFill>
                <a:latin typeface="Calibri"/>
                <a:ea typeface="Calibri"/>
                <a:cs typeface="Calibri"/>
                <a:sym typeface="Calibri"/>
              </a:rPr>
              <a:t>Embedded Scripting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848856" y="2578608"/>
            <a:ext cx="177393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Minimal · 3–5 days to learn · Used in Roblox, game engines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02920" y="4151376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The Triangle of Power: each language owns a specific domain. Python owns AI.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Why Not JavaScript for AI?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00-welcome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502920" y="1353312"/>
            <a:ext cx="8138160" cy="292608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94360" y="138988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you need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514600" y="138988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102352" y="138988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699248" y="1389888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02920" y="1700784"/>
            <a:ext cx="81381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94360" y="179222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514600" y="179222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No real equivalent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102352" y="179222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PyTorch · TensorFlow · scikit-learn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699248" y="179222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Python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02920" y="2212848"/>
            <a:ext cx="8138160" cy="4572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594360" y="23042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514600" y="230428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Limited (no Pandas/NumPy)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102352" y="230428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Pandas · NumPy · Polars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699248" y="23042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Python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02920" y="2724912"/>
            <a:ext cx="81381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594360" y="28163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Research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514600" y="281635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Almost never supported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102352" y="281635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Every paper ships Python API first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699248" y="28163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Python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02920" y="3236976"/>
            <a:ext cx="8138160" cy="4572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594360" y="332841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Web APIs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2514600" y="332841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Node/Express — excellent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102352" y="332841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FastAPI / Flask — good but not JS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699248" y="3328416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JS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02920" y="3749040"/>
            <a:ext cx="81381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594360" y="3840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Web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514600" y="38404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React — industry standard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102352" y="38404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Not applicable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699248" y="38404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JS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02920" y="4297680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Python's dominance in AI isn't about language speed — it's about the ecosystem.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Learning Curve — Where Does Python Sit?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00-welcome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502920" y="135331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Good news: you already know a harder stack. Python will feel simple.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02920" y="170078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Lua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389888" y="1755648"/>
            <a:ext cx="4389120" cy="16459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EB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389888" y="1755648"/>
            <a:ext cx="658368" cy="16459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870448" y="17007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Minimal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870448" y="197510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"Click": 3–5 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406640" y="1737360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Arrays start at 1 instead of 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02920" y="2322576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389888" y="2377440"/>
            <a:ext cx="4389120" cy="16459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EB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1389888" y="2377440"/>
            <a:ext cx="965606" cy="1645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5870448" y="232257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Very 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870448" y="259689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"Click": 1–2 Weeks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406640" y="2359152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Managing environments &amp; concurrency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02920" y="29443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389888" y="2999232"/>
            <a:ext cx="4389120" cy="16459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EB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1389888" y="2999232"/>
            <a:ext cx="1536192" cy="16459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5870448" y="294436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Low / Moderate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870448" y="32186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"Click": 2–4 Weeks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406640" y="2980944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Explicit error handling, un-learning OOP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02920" y="35661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389888" y="3621024"/>
            <a:ext cx="4389120" cy="16459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EB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1389888" y="3621024"/>
            <a:ext cx="2633472" cy="1645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5870448" y="35661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Moderate / 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870448" y="384048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"Click": 2–3 Months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7406640" y="3602736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Context-switching: Frontend · Backend · Database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02920" y="4187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389888" y="4242816"/>
            <a:ext cx="4389120" cy="16459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EB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389888" y="4242816"/>
            <a:ext cx="4169664" cy="16459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5870448" y="41879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Very 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870448" y="446227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"Click": 3–6 Months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406640" y="4224528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Ownership · Borrowing · Lifetimes · Borrow Checker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02920" y="4846320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← You already mastered MERN. Python is a shorter journey.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Why Python Makes Sense for MERN Developers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00-welcome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502920" y="135331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You already understand the concepts — Python is just a new syntax: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02920" y="1700784"/>
            <a:ext cx="8138160" cy="65836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02920" y="1700784"/>
            <a:ext cx="64008" cy="658368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58368" y="175564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907792" y="175564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401568" y="175564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58368" y="2048256"/>
            <a:ext cx="7882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Both are high-level, dynamically typed — Python just uses indentation instead of {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02920" y="2450592"/>
            <a:ext cx="813816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502920" y="2450592"/>
            <a:ext cx="64008" cy="658368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658368" y="250545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React (components)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907792" y="250545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401568" y="250545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58368" y="2798064"/>
            <a:ext cx="7882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React makes UI intuitive. Pandas does the same for data — familiar mental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02920" y="3200400"/>
            <a:ext cx="8138160" cy="65836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502920" y="3200400"/>
            <a:ext cx="64008" cy="658368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658368" y="325526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Node/Express APIs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2907792" y="325526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401568" y="325526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58368" y="3547872"/>
            <a:ext cx="7882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You know server-side logic. Python's FastAPI follows the same request/response pattern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02920" y="3950208"/>
            <a:ext cx="813816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502920" y="3950208"/>
            <a:ext cx="64008" cy="658368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658368" y="40050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npm / package.json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907792" y="400507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401568" y="40050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uv / pyproject.toml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58368" y="4297680"/>
            <a:ext cx="7882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You know package management. uv is your new npm — but 10–100× faster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CB6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2" name="Google Shape;2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/>
          <p:nvPr/>
        </p:nvSpPr>
        <p:spPr>
          <a:xfrm>
            <a:off x="502920" y="960120"/>
            <a:ext cx="713232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1216152" y="960120"/>
            <a:ext cx="475488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502920" y="107899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02920" y="1645920"/>
            <a:ext cx="8229600" cy="22860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502920" y="1828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Environment Setup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02920" y="2578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Installing uv · VS Code · your first Python 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What is uv? — Your Python Super-Manager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01-setup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502920" y="135331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uv is an extremely fast Python package and project manager created by Astral — written in Rust.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02920" y="1700784"/>
            <a:ext cx="3950208" cy="126187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502920" y="1700784"/>
            <a:ext cx="3950208" cy="34747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612648" y="17373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10–100× Faster than pip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12648" y="2121408"/>
            <a:ext cx="37490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Installing PyTorch with pip: 8–12 min. With uv: 45–90 sec.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With 50 students on shared WiFi, this is a lifesaver.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617720" y="1700784"/>
            <a:ext cx="3950208" cy="126187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617720" y="1700784"/>
            <a:ext cx="3950208" cy="34747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727448" y="17373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🐍  Installs Python Itself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727448" y="2121408"/>
            <a:ext cx="37490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more downloading Python from python.org.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uv installs and manages multiple Python versions for you.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502920" y="3127248"/>
            <a:ext cx="3950208" cy="126187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502920" y="3127248"/>
            <a:ext cx="3950208" cy="34747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612648" y="316382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Manages Dependencies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12648" y="3547872"/>
            <a:ext cx="37490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Downloads and resolves libraries like PyTorch, Pandas, scikit-learn.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Automatic conflict resolution — no more cryptic pip errors.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617720" y="3127248"/>
            <a:ext cx="3950208" cy="126187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617720" y="3127248"/>
            <a:ext cx="3950208" cy="34747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4727448" y="316382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🫧  Creates Virtual Environments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727448" y="3547872"/>
            <a:ext cx="37490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Isolated 'sandboxes' per project.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Project A uses Python 3.11, Project B uses 3.12 — no conflict.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9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Old Way vs New Way — Why uv Replaces Everything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01-setup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502920" y="135331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Before uv, Python setup required juggling 5 different tools. Now it's just one: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02920" y="1700784"/>
            <a:ext cx="3767328" cy="292608"/>
          </a:xfrm>
          <a:prstGeom prst="rect">
            <a:avLst/>
          </a:prstGeom>
          <a:solidFill>
            <a:srgbClr val="CC3333"/>
          </a:solidFill>
          <a:ln cap="flat" cmpd="sng" w="12700">
            <a:solidFill>
              <a:srgbClr val="CC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94360" y="171907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Old Way — Multiple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462272" y="1700784"/>
            <a:ext cx="4178808" cy="292608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4553712" y="1719072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New Way — Just uv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02920" y="2048256"/>
            <a:ext cx="3767328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594360" y="2139696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• pip — install packages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462272" y="2048256"/>
            <a:ext cx="4178808" cy="457200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4553712" y="2139696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ourier New"/>
                <a:ea typeface="Courier New"/>
                <a:cs typeface="Courier New"/>
                <a:sym typeface="Courier New"/>
              </a:rPr>
              <a:t>✓  uv add pandas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02920" y="2578608"/>
            <a:ext cx="3767328" cy="4572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594360" y="2670048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• venv / virtualenv — environments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462272" y="2578608"/>
            <a:ext cx="4178808" cy="457200"/>
          </a:xfrm>
          <a:prstGeom prst="rect">
            <a:avLst/>
          </a:prstGeom>
          <a:solidFill>
            <a:srgbClr val="E8FFF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4553712" y="267004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ourier New"/>
                <a:ea typeface="Courier New"/>
                <a:cs typeface="Courier New"/>
                <a:sym typeface="Courier New"/>
              </a:rPr>
              <a:t>✓  uv (built-in)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502920" y="3108960"/>
            <a:ext cx="3767328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594360" y="3200400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• pyenv — Python 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4462272" y="3108960"/>
            <a:ext cx="4178808" cy="457200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4553712" y="320040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ourier New"/>
                <a:ea typeface="Courier New"/>
                <a:cs typeface="Courier New"/>
                <a:sym typeface="Courier New"/>
              </a:rPr>
              <a:t>✓  uv python install 3.12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502920" y="3639312"/>
            <a:ext cx="3767328" cy="4572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594360" y="3730752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• poetry / pipenv — dependency mgmt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4462272" y="3639312"/>
            <a:ext cx="4178808" cy="457200"/>
          </a:xfrm>
          <a:prstGeom prst="rect">
            <a:avLst/>
          </a:prstGeom>
          <a:solidFill>
            <a:srgbClr val="E8FFF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553712" y="373075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ourier New"/>
                <a:ea typeface="Courier New"/>
                <a:cs typeface="Courier New"/>
                <a:sym typeface="Courier New"/>
              </a:rPr>
              <a:t>✓  uv (built-in)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502920" y="4169664"/>
            <a:ext cx="3767328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594360" y="4261104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• requirements.txt — version 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4462272" y="4169664"/>
            <a:ext cx="4178808" cy="457200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4553712" y="4261104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ourier New"/>
                <a:ea typeface="Courier New"/>
                <a:cs typeface="Courier New"/>
                <a:sym typeface="Courier New"/>
              </a:rPr>
              <a:t>✓  pyproject.toml + uv.lock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502920" y="466344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One tool. One mental model. One workflow.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0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Virtual Environments — Why They Matter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01-setup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502920" y="135331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Without virtual environments, your projects fight each other. With them, total isolation: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02920" y="1700784"/>
            <a:ext cx="3767328" cy="2395728"/>
          </a:xfrm>
          <a:prstGeom prst="rect">
            <a:avLst/>
          </a:prstGeom>
          <a:solidFill>
            <a:srgbClr val="FFF5F5"/>
          </a:solidFill>
          <a:ln cap="flat" cmpd="sng" w="10150">
            <a:solidFill>
              <a:srgbClr val="CC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502920" y="1700784"/>
            <a:ext cx="3767328" cy="310896"/>
          </a:xfrm>
          <a:prstGeom prst="rect">
            <a:avLst/>
          </a:prstGeom>
          <a:solidFill>
            <a:srgbClr val="CC3333"/>
          </a:solidFill>
          <a:ln cap="flat" cmpd="sng" w="12700">
            <a:solidFill>
              <a:srgbClr val="CC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594360" y="173736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Without Virtual Environments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94360" y="212140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• Project A needs Django 3.2 + Python 3.9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594360" y="2505456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• Project B needs Django 5.0 + Python 3.12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594360" y="288950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• Installing B's packages BREAKS Project 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594360" y="327355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• System Python can get corrupted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594360" y="365760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• Real story: student reinstalled their entire OS!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4462272" y="1700784"/>
            <a:ext cx="4178808" cy="2395728"/>
          </a:xfrm>
          <a:prstGeom prst="rect">
            <a:avLst/>
          </a:prstGeom>
          <a:solidFill>
            <a:srgbClr val="F0FFF4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4462272" y="1700784"/>
            <a:ext cx="4178808" cy="310896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4553712" y="1737360"/>
            <a:ext cx="3977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With Virtual Environments (uv)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4553712" y="2121408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✓ Project A gets its OWN bubble (Django 3.2)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4553712" y="2505456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✓ Project B gets its OWN bubble (Django 5.0)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4553712" y="2889504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✓ Projects NEVER interfere with each other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4553712" y="3273552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✓ System Python stays completely safe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4553712" y="365760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✓ Think: separate toolbox for each project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502920" y="420624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AI libraries (TensorFlow, PyTorch) are notorious for version conflicts — virtual environments are not optional.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4" name="Google Shape;3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pyproject.toml — The Modern Standard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01-setup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502920" y="135331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uv uses pyproject.toml — the official Python standard that replaces requirements.txt: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502920" y="1700784"/>
            <a:ext cx="3657600" cy="256032"/>
          </a:xfrm>
          <a:prstGeom prst="rect">
            <a:avLst/>
          </a:prstGeom>
          <a:solidFill>
            <a:srgbClr val="CC3333"/>
          </a:solidFill>
          <a:ln cap="flat" cmpd="sng" w="12700">
            <a:solidFill>
              <a:srgbClr val="CC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594360" y="1719072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requirements.txt (Old Way)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502920" y="1993392"/>
            <a:ext cx="3657600" cy="95097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704088" y="2121408"/>
            <a:ext cx="325526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numpy==1.24.3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pandas==2.0.1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scikit-learn==1.2.2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No metadata, no dev/prod split,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no tool config — just a list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594360" y="303580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• No project name, version or author info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594360" y="332841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• No dev vs production dependency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594360" y="362102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• Multiple separate config files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594360" y="39136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• Not an official standard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4462272" y="1700784"/>
            <a:ext cx="4178808" cy="25603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4553712" y="1719072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pyproject.toml (New Standard)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4462272" y="1993392"/>
            <a:ext cx="4178808" cy="95097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4663440" y="2121408"/>
            <a:ext cx="377647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[project]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name = "my-ai-project"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version = "0.1.0"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requires-python = "&gt;=3.12"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dependencies = [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"torch&gt;=2.1.0",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    "pandas&gt;=2.0.0",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4553712" y="303580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✓ Single source of truth for everything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4553712" y="3328416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✓ Separate dev vs production clearly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4553712" y="3621024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✓ Tool config all in one place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4553712" y="3913632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✓ Official PEP standard — Django, FastAPI use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6" name="Google Shape;3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2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Installing uv — All Platforms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01-setup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502920" y="135331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One command per platform — then verify with uv --version: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502920" y="1700784"/>
            <a:ext cx="2688336" cy="27432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594360" y="1719072"/>
            <a:ext cx="25054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🖥️  Windows (Winget)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502920" y="2011680"/>
            <a:ext cx="2688336" cy="148132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704088" y="2139696"/>
            <a:ext cx="228600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winget install --id=astral-sh.uv -e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Open PowerShell as Administrator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Then verify: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uv --version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3319272" y="1700784"/>
            <a:ext cx="2688336" cy="27432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3410712" y="1719072"/>
            <a:ext cx="25054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🍎  macOS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3319272" y="2011680"/>
            <a:ext cx="2688336" cy="148132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3520440" y="2139696"/>
            <a:ext cx="228600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curl -LsSf https://astral.sh/uv/install.sh | 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Then restart terminal and verify: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uv --version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6135624" y="1700784"/>
            <a:ext cx="2688336" cy="27432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6227064" y="1719072"/>
            <a:ext cx="25054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🐧  Linux (Ubuntu)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6135624" y="2011680"/>
            <a:ext cx="2688336" cy="148132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6336792" y="2139696"/>
            <a:ext cx="228600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curl -LsSf https://astral.sh/uv/install.sh | 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Then restart terminal and verify: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uv --version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502920" y="365760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⚠️  Windows: if Winget fails, visit github.com/astral-sh/uv/releases to download manually.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502920" y="4005072"/>
            <a:ext cx="8138160" cy="749808"/>
          </a:xfrm>
          <a:prstGeom prst="rect">
            <a:avLst/>
          </a:prstGeom>
          <a:solidFill>
            <a:srgbClr val="F0FFF4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594360" y="407822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✅  First-Time Config (All Platforms):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4297680" y="4078224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uv python install 3.12   # Install Python 3.12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4297680" y="4352544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uv python list           # Verify it's installed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9" name="Google Shape;4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3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Visual Studio Code — Your Code Editor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01-setup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502920" y="135331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VS Code is a free, open-source editor by Microsoft. It's the world's most popular dev tool: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502920" y="1700784"/>
            <a:ext cx="8138160" cy="27432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594360" y="173736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Editor Type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1938528" y="1737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Ease of Use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3547872" y="1737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5010912" y="1737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Support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6473952" y="1737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For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502920" y="2029968"/>
            <a:ext cx="81381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594360" y="2121408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Notepad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1938528" y="21214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Very Easy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3547872" y="21214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&lt; 10MB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5010912" y="21214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6473952" y="212140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Notes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502920" y="2560320"/>
            <a:ext cx="8138160" cy="457200"/>
          </a:xfrm>
          <a:prstGeom prst="rect">
            <a:avLst/>
          </a:prstGeom>
          <a:solidFill>
            <a:srgbClr val="F0FFF4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594360" y="2651760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VS Code 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1938528" y="26517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Easy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3547872" y="26517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200–500MB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5010912" y="26517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Excellent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6473952" y="26517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Everyone — our choice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502920" y="3090672"/>
            <a:ext cx="813816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594360" y="3182112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PyCharm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1938528" y="31821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3547872" y="31821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1–2 GB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5010912" y="31821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6473952" y="31821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Python-only devs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502920" y="3621024"/>
            <a:ext cx="8138160" cy="4572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"/>
          <p:cNvSpPr/>
          <p:nvPr/>
        </p:nvSpPr>
        <p:spPr>
          <a:xfrm>
            <a:off x="594360" y="3712464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Neovim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1938528" y="37124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Very Hard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3547872" y="37124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10–50MB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5010912" y="37124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Manual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6473952" y="371246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Power users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502920" y="4242816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VS Code gives you 90% of an IDE's power with 10% of the complexity. Perfect for AI development.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6" name="Google Shape;4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4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Installing VS Code — All Platforms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01-setup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502920" y="135331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Install VS Code and add the Python extension — takes 5–10 minutes: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502920" y="1700784"/>
            <a:ext cx="2688336" cy="27432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594360" y="1719072"/>
            <a:ext cx="25054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🖥️  Windows (Winget)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502920" y="2011680"/>
            <a:ext cx="2688336" cy="15544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704088" y="2139696"/>
            <a:ext cx="228600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winget install -e --id Microsoft.VisualStudioCode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Important during installer: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✓ Check 'Add to PATH'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✓ Check 'Open with Code' context menu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3319272" y="1700784"/>
            <a:ext cx="2688336" cy="27432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4"/>
          <p:cNvSpPr/>
          <p:nvPr/>
        </p:nvSpPr>
        <p:spPr>
          <a:xfrm>
            <a:off x="3410712" y="1719072"/>
            <a:ext cx="25054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🍎  macOS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3319272" y="2011680"/>
            <a:ext cx="2688336" cy="15544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3520440" y="2139696"/>
            <a:ext cx="228600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Visit code.visualstudio.com/Download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Download .zip → drag to Applications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Add to terminal: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Cmd+Shift+P → 'Shell Command: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Install code command in PATH'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6135624" y="1700784"/>
            <a:ext cx="2688336" cy="27432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6227064" y="1719072"/>
            <a:ext cx="25054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🐧  Linux (Ubuntu)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6135624" y="2011680"/>
            <a:ext cx="2688336" cy="15544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4"/>
          <p:cNvSpPr/>
          <p:nvPr/>
        </p:nvSpPr>
        <p:spPr>
          <a:xfrm>
            <a:off x="6336792" y="2139696"/>
            <a:ext cx="228600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sudo snap install --classic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Alternative (APT):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sudo apt update &amp;&amp; sudo apt install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Launch: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code 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502920" y="3712464"/>
            <a:ext cx="8138160" cy="896112"/>
          </a:xfrm>
          <a:prstGeom prst="rect">
            <a:avLst/>
          </a:prstGeom>
          <a:solidFill>
            <a:srgbClr val="F0FFF4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4"/>
          <p:cNvSpPr/>
          <p:nvPr/>
        </p:nvSpPr>
        <p:spPr>
          <a:xfrm>
            <a:off x="594360" y="3785616"/>
            <a:ext cx="7955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After installing VS Code — open it and install the Python Extension: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594360" y="4059936"/>
            <a:ext cx="7955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Press Ctrl+Shift+X (Windows/Linux) or Cmd+Shift+X (Mac)   2. Search 'Python'   3. Install the Microsoft Python extension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7" name="Google Shape;4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5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Creating Your First AI Project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01-setup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502920" y="135331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The complete uv workflow — from zero to running Python in 4 commands: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502920" y="1700784"/>
            <a:ext cx="3950208" cy="135331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612648" y="1810512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612648" y="18105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1051560" y="1828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Create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612648" y="2194560"/>
            <a:ext cx="3730752" cy="76809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813816" y="2322576"/>
            <a:ext cx="33284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mkdir my-first-ai-project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cd my-first-ai-project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uv init -p 3.12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4617720" y="1700784"/>
            <a:ext cx="3950208" cy="135331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4727448" y="1810512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4727448" y="18105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5166360" y="1828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 Libraries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4727448" y="2194560"/>
            <a:ext cx="3730752" cy="76809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4928616" y="2322576"/>
            <a:ext cx="33284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uv add pandas scikit-learn matplotlib seaborn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uv add ipykernel jupyterlab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502920" y="3218688"/>
            <a:ext cx="3950208" cy="135331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5"/>
          <p:cNvSpPr/>
          <p:nvPr/>
        </p:nvSpPr>
        <p:spPr>
          <a:xfrm>
            <a:off x="612648" y="3328416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5"/>
          <p:cNvSpPr/>
          <p:nvPr/>
        </p:nvSpPr>
        <p:spPr>
          <a:xfrm>
            <a:off x="612648" y="332841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1051560" y="334670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 in VS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612648" y="3712464"/>
            <a:ext cx="3730752" cy="76809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5"/>
          <p:cNvSpPr/>
          <p:nvPr/>
        </p:nvSpPr>
        <p:spPr>
          <a:xfrm>
            <a:off x="813816" y="3840480"/>
            <a:ext cx="33284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code 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The . means 'open current folder'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4617720" y="3218688"/>
            <a:ext cx="3950208" cy="1353312"/>
          </a:xfrm>
          <a:prstGeom prst="rect">
            <a:avLst/>
          </a:prstGeom>
          <a:solidFill>
            <a:srgbClr val="FAFAFA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4727448" y="3328416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"/>
          <p:cNvSpPr/>
          <p:nvPr/>
        </p:nvSpPr>
        <p:spPr>
          <a:xfrm>
            <a:off x="4727448" y="332841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5166360" y="334670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Launch Jupyter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4727448" y="3712464"/>
            <a:ext cx="3730752" cy="768096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4928616" y="3840480"/>
            <a:ext cx="33284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uv run jupyter 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8E8E8"/>
                </a:solidFill>
                <a:latin typeface="Courier New"/>
                <a:ea typeface="Courier New"/>
                <a:cs typeface="Courier New"/>
                <a:sym typeface="Courier New"/>
              </a:rPr>
              <a:t># Opens in your browser at localhost:8888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7" name="Google Shape;5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6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6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6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Essential uv Commands — Daily Reference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01-setup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502920" y="1261872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6"/>
          <p:cNvSpPr/>
          <p:nvPr/>
        </p:nvSpPr>
        <p:spPr>
          <a:xfrm>
            <a:off x="502920" y="135331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These are the commands you will use every single day as an AI developer: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502920" y="1700784"/>
            <a:ext cx="3950208" cy="138988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6"/>
          <p:cNvSpPr/>
          <p:nvPr/>
        </p:nvSpPr>
        <p:spPr>
          <a:xfrm>
            <a:off x="502920" y="1700784"/>
            <a:ext cx="3950208" cy="27432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6"/>
          <p:cNvSpPr/>
          <p:nvPr/>
        </p:nvSpPr>
        <p:spPr>
          <a:xfrm>
            <a:off x="612648" y="172821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612648" y="20482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uv init -p 3.12          # create new project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612648" y="236829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uv sync                    # install from pyproject.toml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612648" y="268833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code .                     # open in VS 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4617720" y="1700784"/>
            <a:ext cx="3950208" cy="138988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6"/>
          <p:cNvSpPr/>
          <p:nvPr/>
        </p:nvSpPr>
        <p:spPr>
          <a:xfrm>
            <a:off x="4617720" y="1700784"/>
            <a:ext cx="3950208" cy="274320"/>
          </a:xfrm>
          <a:prstGeom prst="rect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6"/>
          <p:cNvSpPr/>
          <p:nvPr/>
        </p:nvSpPr>
        <p:spPr>
          <a:xfrm>
            <a:off x="4727448" y="172821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Adding Libraries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4727448" y="20482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uv add pandas            # add one package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4727448" y="236829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uv add pandas numpy sklearn # add multiple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/>
          <p:nvPr/>
        </p:nvSpPr>
        <p:spPr>
          <a:xfrm>
            <a:off x="4727448" y="268833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uv add --dev pytest        # dev-only dependency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502920" y="3255264"/>
            <a:ext cx="3950208" cy="138988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6"/>
          <p:cNvSpPr/>
          <p:nvPr/>
        </p:nvSpPr>
        <p:spPr>
          <a:xfrm>
            <a:off x="502920" y="3255264"/>
            <a:ext cx="3950208" cy="274320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6"/>
          <p:cNvSpPr/>
          <p:nvPr/>
        </p:nvSpPr>
        <p:spPr>
          <a:xfrm>
            <a:off x="612648" y="328269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Running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612648" y="360273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uv run my_script.py      # run a script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6"/>
          <p:cNvSpPr/>
          <p:nvPr/>
        </p:nvSpPr>
        <p:spPr>
          <a:xfrm>
            <a:off x="612648" y="392277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uv run jupyter lab         # launch Jupyter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6"/>
          <p:cNvSpPr/>
          <p:nvPr/>
        </p:nvSpPr>
        <p:spPr>
          <a:xfrm>
            <a:off x="612648" y="424281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uv run python              # open Python REPL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4617720" y="3255264"/>
            <a:ext cx="3950208" cy="138988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A4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6"/>
          <p:cNvSpPr/>
          <p:nvPr/>
        </p:nvSpPr>
        <p:spPr>
          <a:xfrm>
            <a:off x="4617720" y="3255264"/>
            <a:ext cx="3950208" cy="274320"/>
          </a:xfrm>
          <a:prstGeom prst="rect">
            <a:avLst/>
          </a:prstGeom>
          <a:solidFill>
            <a:srgbClr val="8A4A1A"/>
          </a:solidFill>
          <a:ln cap="flat" cmpd="sng" w="12700">
            <a:solidFill>
              <a:srgbClr val="8A4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6"/>
          <p:cNvSpPr/>
          <p:nvPr/>
        </p:nvSpPr>
        <p:spPr>
          <a:xfrm>
            <a:off x="4727448" y="328269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You Clone from 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4727448" y="360273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git clone &lt;repo-url&gt;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6"/>
          <p:cNvSpPr/>
          <p:nvPr/>
        </p:nvSpPr>
        <p:spPr>
          <a:xfrm>
            <a:off x="4727448" y="392277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cd &lt;project-folder&gt;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6"/>
          <p:cNvSpPr/>
          <p:nvPr/>
        </p:nvSpPr>
        <p:spPr>
          <a:xfrm>
            <a:off x="4727448" y="424281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uv sync                    # installs everything 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5B00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6" name="Google Shape;5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7"/>
          <p:cNvSpPr/>
          <p:nvPr/>
        </p:nvSpPr>
        <p:spPr>
          <a:xfrm>
            <a:off x="502920" y="8229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Exercise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502920" y="4023360"/>
            <a:ext cx="713232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7"/>
          <p:cNvSpPr/>
          <p:nvPr/>
        </p:nvSpPr>
        <p:spPr>
          <a:xfrm>
            <a:off x="1216152" y="4023360"/>
            <a:ext cx="475488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7"/>
          <p:cNvSpPr/>
          <p:nvPr/>
        </p:nvSpPr>
        <p:spPr>
          <a:xfrm>
            <a:off x="502920" y="199339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 Up Your AI Environment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502920" y="2487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Install uv using the command for your OS — verify with uv --version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502920" y="28072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Install Python 3.12 using: uv python install 3.12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502920" y="3127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Install VS Code and add the Python extension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502920" y="34472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Create your project: mkdir ai-workshop &amp;&amp; cd ai-workshop &amp;&amp; uv init -p 3.12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502920" y="37673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Add libraries: uv add pandas scikit-learn matplotlib seaborn ipykernel jupyterlab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502920" y="40873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 Launch Jupyter Lab: uv run jupyter lab — confirm it opens in your browser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7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7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6" name="Google Shape;5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73152"/>
            <a:ext cx="50292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8"/>
          <p:cNvSpPr/>
          <p:nvPr/>
        </p:nvSpPr>
        <p:spPr>
          <a:xfrm>
            <a:off x="502920" y="347472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8"/>
          <p:cNvSpPr/>
          <p:nvPr/>
        </p:nvSpPr>
        <p:spPr>
          <a:xfrm>
            <a:off x="1271016" y="347472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8"/>
          <p:cNvSpPr/>
          <p:nvPr/>
        </p:nvSpPr>
        <p:spPr>
          <a:xfrm>
            <a:off x="502920" y="502920"/>
            <a:ext cx="7589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Assignment — Week 1 Topic 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502920" y="1042416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8"/>
          <p:cNvSpPr/>
          <p:nvPr/>
        </p:nvSpPr>
        <p:spPr>
          <a:xfrm>
            <a:off x="502920" y="1024128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📁  00-welcome · 01-setup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502920" y="1298448"/>
            <a:ext cx="8138160" cy="27432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8"/>
          <p:cNvSpPr/>
          <p:nvPr/>
        </p:nvSpPr>
        <p:spPr>
          <a:xfrm>
            <a:off x="502920" y="1389888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Submit Before Next Class  ·  Push to your GitHub repo  ·  Include a README.md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502920" y="1700784"/>
            <a:ext cx="8138160" cy="56692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8"/>
          <p:cNvSpPr/>
          <p:nvPr/>
        </p:nvSpPr>
        <p:spPr>
          <a:xfrm>
            <a:off x="566928" y="1810512"/>
            <a:ext cx="347472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8"/>
          <p:cNvSpPr/>
          <p:nvPr/>
        </p:nvSpPr>
        <p:spPr>
          <a:xfrm>
            <a:off x="566928" y="18105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8"/>
          <p:cNvSpPr/>
          <p:nvPr/>
        </p:nvSpPr>
        <p:spPr>
          <a:xfrm>
            <a:off x="1042416" y="175564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Environment Working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1042416" y="201168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Screenshot showing uv --version and jupyter lab running successfully in your terminal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502920" y="2359152"/>
            <a:ext cx="81381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8"/>
          <p:cNvSpPr/>
          <p:nvPr/>
        </p:nvSpPr>
        <p:spPr>
          <a:xfrm>
            <a:off x="566928" y="2468880"/>
            <a:ext cx="347472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8"/>
          <p:cNvSpPr/>
          <p:nvPr/>
        </p:nvSpPr>
        <p:spPr>
          <a:xfrm>
            <a:off x="566928" y="24688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1042416" y="241401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First Notebook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1042416" y="2670048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Create a Jupyter notebook that imports pandas, matplotlib, seaborn and prints their versions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502920" y="3017520"/>
            <a:ext cx="8138160" cy="56692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8"/>
          <p:cNvSpPr/>
          <p:nvPr/>
        </p:nvSpPr>
        <p:spPr>
          <a:xfrm>
            <a:off x="566928" y="3127248"/>
            <a:ext cx="347472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8"/>
          <p:cNvSpPr/>
          <p:nvPr/>
        </p:nvSpPr>
        <p:spPr>
          <a:xfrm>
            <a:off x="566928" y="31272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1042416" y="307238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Research — Why Python?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8"/>
          <p:cNvSpPr/>
          <p:nvPr/>
        </p:nvSpPr>
        <p:spPr>
          <a:xfrm>
            <a:off x="1042416" y="3328416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Write a 200-word markdown cell in your notebook: why Python and not JavaScript for AI? Use examples from today's lesson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502920" y="3675888"/>
            <a:ext cx="81381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8"/>
          <p:cNvSpPr/>
          <p:nvPr/>
        </p:nvSpPr>
        <p:spPr>
          <a:xfrm>
            <a:off x="566928" y="3785616"/>
            <a:ext cx="347472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8"/>
          <p:cNvSpPr/>
          <p:nvPr/>
        </p:nvSpPr>
        <p:spPr>
          <a:xfrm>
            <a:off x="566928" y="37856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1042416" y="373075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pyproject.toml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1042416" y="3986784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Show your pyproject.toml with all 6 libraries listed. Explain in a comment what each library does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502920" y="4334256"/>
            <a:ext cx="8138160" cy="56692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8"/>
          <p:cNvSpPr/>
          <p:nvPr/>
        </p:nvSpPr>
        <p:spPr>
          <a:xfrm>
            <a:off x="566928" y="4443984"/>
            <a:ext cx="347472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8"/>
          <p:cNvSpPr/>
          <p:nvPr/>
        </p:nvSpPr>
        <p:spPr>
          <a:xfrm>
            <a:off x="566928" y="44439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1042416" y="43891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GitHub Push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8"/>
          <p:cNvSpPr/>
          <p:nvPr/>
        </p:nvSpPr>
        <p:spPr>
          <a:xfrm>
            <a:off x="1042416" y="4645152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Push everything to a public GitHub repo called ai-workshop. Include a .gitignore that excludes .venv/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8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8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8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E2E5"/>
          </a:solidFill>
          <a:ln cap="flat" cmpd="sng" w="12700">
            <a:solidFill>
              <a:srgbClr val="E0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9"/>
          <p:cNvSpPr/>
          <p:nvPr/>
        </p:nvSpPr>
        <p:spPr>
          <a:xfrm>
            <a:off x="502920" y="822960"/>
            <a:ext cx="768096" cy="50292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9"/>
          <p:cNvSpPr/>
          <p:nvPr/>
        </p:nvSpPr>
        <p:spPr>
          <a:xfrm>
            <a:off x="1271016" y="822960"/>
            <a:ext cx="512064" cy="50292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9"/>
          <p:cNvSpPr/>
          <p:nvPr/>
        </p:nvSpPr>
        <p:spPr>
          <a:xfrm>
            <a:off x="502920" y="10058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Thanks!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9"/>
          <p:cNvSpPr/>
          <p:nvPr/>
        </p:nvSpPr>
        <p:spPr>
          <a:xfrm>
            <a:off x="502920" y="19933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What we covered today: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9"/>
          <p:cNvSpPr/>
          <p:nvPr/>
        </p:nvSpPr>
        <p:spPr>
          <a:xfrm>
            <a:off x="502920" y="23591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✓  Why Python wins for AI — not speed, but ecosystem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9"/>
          <p:cNvSpPr/>
          <p:nvPr/>
        </p:nvSpPr>
        <p:spPr>
          <a:xfrm>
            <a:off x="502920" y="267004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The language landscape: Python vs Rust vs Go vs Lua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9"/>
          <p:cNvSpPr/>
          <p:nvPr/>
        </p:nvSpPr>
        <p:spPr>
          <a:xfrm>
            <a:off x="502920" y="29809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uv — your Python super-manager (10–100× faster)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9"/>
          <p:cNvSpPr/>
          <p:nvPr/>
        </p:nvSpPr>
        <p:spPr>
          <a:xfrm>
            <a:off x="502920" y="32918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Virtual environments — isolation and safety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9"/>
          <p:cNvSpPr/>
          <p:nvPr/>
        </p:nvSpPr>
        <p:spPr>
          <a:xfrm>
            <a:off x="502920" y="360273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pyproject.toml — the official modern standard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9"/>
          <p:cNvSpPr/>
          <p:nvPr/>
        </p:nvSpPr>
        <p:spPr>
          <a:xfrm>
            <a:off x="502920" y="39136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VS Code + Jupyter Lab — your daily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9"/>
          <p:cNvSpPr/>
          <p:nvPr/>
        </p:nvSpPr>
        <p:spPr>
          <a:xfrm>
            <a:off x="502920" y="42245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Your first AI project — created from scratch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9"/>
          <p:cNvSpPr/>
          <p:nvPr/>
        </p:nvSpPr>
        <p:spPr>
          <a:xfrm>
            <a:off x="502920" y="453542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B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CB62"/>
                </a:solidFill>
                <a:latin typeface="Calibri"/>
                <a:ea typeface="Calibri"/>
                <a:cs typeface="Calibri"/>
                <a:sym typeface="Calibri"/>
              </a:rPr>
              <a:t>🔜  Next: Week 1 Topic 2 — Python Basics Part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1" name="Google Shape;6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188720"/>
            <a:ext cx="1463040" cy="195681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19"/>
          <p:cNvSpPr/>
          <p:nvPr/>
        </p:nvSpPr>
        <p:spPr>
          <a:xfrm>
            <a:off x="4663440" y="3401568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9"/>
          <p:cNvSpPr/>
          <p:nvPr/>
        </p:nvSpPr>
        <p:spPr>
          <a:xfrm>
            <a:off x="4663440" y="380390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with Python — Week 1 Topic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9"/>
          <p:cNvSpPr/>
          <p:nvPr/>
        </p:nvSpPr>
        <p:spPr>
          <a:xfrm>
            <a:off x="4663440" y="4224528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info@codetraingh.com  ·  www.codetraingh.com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9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34CB62"/>
          </a:solidFill>
          <a:ln cap="flat" cmpd="sng" w="12700">
            <a:solidFill>
              <a:srgbClr val="34CB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9"/>
          <p:cNvSpPr/>
          <p:nvPr/>
        </p:nvSpPr>
        <p:spPr>
          <a:xfrm>
            <a:off x="274320" y="4924044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Codetrain Africa  ·  AI with Python  ·  Week 1 Topic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9"/>
          <p:cNvSpPr/>
          <p:nvPr/>
        </p:nvSpPr>
        <p:spPr>
          <a:xfrm>
            <a:off x="8778240" y="492404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2026-04-14T09:35:41Z</dcterms:created>
  <dc:creator>Codetrain Africa</dc:creator>
</cp:coreProperties>
</file>