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C3BA11-C34C-4574-9D96-4B7DE6A44B3F}">
  <a:tblStyle styleId="{10C3BA11-C34C-4574-9D96-4B7DE6A44B3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RobotoMono-bold.fntdata"/><Relationship Id="rId23" Type="http://schemas.openxmlformats.org/officeDocument/2006/relationships/slide" Target="slides/slide17.xml"/><Relationship Id="rId45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RobotoMono-boldItalic.fntdata"/><Relationship Id="rId25" Type="http://schemas.openxmlformats.org/officeDocument/2006/relationships/slide" Target="slides/slide19.xml"/><Relationship Id="rId47" Type="http://schemas.openxmlformats.org/officeDocument/2006/relationships/font" Target="fonts/RobotoMon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568dad2fe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568dad2fe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568dad2fe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568dad2fe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568dad2fe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568dad2fe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568dad2fe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568dad2fe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568dad2fe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568dad2fe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568dad2fe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568dad2fe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568dad2fe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568dad2fe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568dad2fe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568dad2fe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68dad2fe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568dad2fe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568dad2fe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568dad2fe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568dad2fe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568dad2fe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568dad2fe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568dad2fe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568dad2fe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568dad2fe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68dad2fe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568dad2fe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568dad2fe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568dad2fe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568dad2fe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568dad2fe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568dad2fe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568dad2fe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568dad2fe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568dad2fe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68dad2fe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568dad2fe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568dad2f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568dad2f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568dad2fe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568dad2f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568dad2f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568dad2f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568dad2fe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568dad2fe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568dad2fe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568dad2fe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568dad2fe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568dad2fe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568dad2fe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568dad2fe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568dad2fe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568dad2fe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568dad2fe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568dad2fe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568dad2fe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568dad2fe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568dad2fe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568dad2fe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568dad2fe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568dad2fe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568dad2fe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568dad2fe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568dad2fe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568dad2fe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568dad2fe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568dad2fe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568dad2fe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568dad2fe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568dad2fe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568dad2fe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568dad2fe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568dad2fe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2550" y="774875"/>
            <a:ext cx="8520600" cy="10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00"/>
              <a:t>WEEK TWO</a:t>
            </a:r>
            <a:endParaRPr b="1" sz="7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• Data Reshaping • EDA • Lab Practice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215750" y="2077650"/>
            <a:ext cx="67125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Data Analysis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212875" y="148450"/>
            <a:ext cx="8520600" cy="6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Setup (uv + Python 3.12 + VS Code)</a:t>
            </a:r>
            <a:endParaRPr b="1" sz="3700"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0400" y="1034100"/>
            <a:ext cx="8520600" cy="39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100">
                <a:solidFill>
                  <a:schemeClr val="lt1"/>
                </a:solidFill>
              </a:rPr>
              <a:t>mkdir</a:t>
            </a:r>
            <a:r>
              <a:rPr lang="en" sz="2100">
                <a:solidFill>
                  <a:schemeClr val="dk1"/>
                </a:solidFill>
              </a:rPr>
              <a:t> python-data-analysis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100">
                <a:solidFill>
                  <a:schemeClr val="lt1"/>
                </a:solidFill>
              </a:rPr>
              <a:t>cd</a:t>
            </a:r>
            <a:r>
              <a:rPr lang="en" sz="2100">
                <a:solidFill>
                  <a:schemeClr val="dk1"/>
                </a:solidFill>
              </a:rPr>
              <a:t> python-data-analysis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macOS / Linux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uv init -p 3.12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uv venv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source .venv/bin/activate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700">
                <a:solidFill>
                  <a:schemeClr val="dk1"/>
                </a:solidFill>
              </a:rPr>
              <a:t>uv add ipykernel pandas numpy matplotlib seaborn jupyter openpyxl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uv</a:t>
            </a:r>
            <a:r>
              <a:rPr lang="en" sz="1400">
                <a:solidFill>
                  <a:schemeClr val="dk1"/>
                </a:solidFill>
              </a:rPr>
              <a:t> run python -m ipykernel install 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--user 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--name python-data-analysis \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--display-name "Python 3.12 (data-analysis)"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code</a:t>
            </a:r>
            <a:r>
              <a:rPr lang="en" sz="2100">
                <a:solidFill>
                  <a:schemeClr val="dk1"/>
                </a:solidFill>
              </a:rPr>
              <a:t> 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</p:txBody>
      </p:sp>
      <p:sp>
        <p:nvSpPr>
          <p:cNvPr id="63" name="Google Shape;63;p14"/>
          <p:cNvSpPr txBox="1"/>
          <p:nvPr/>
        </p:nvSpPr>
        <p:spPr>
          <a:xfrm>
            <a:off x="4052325" y="3642550"/>
            <a:ext cx="5133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dk2"/>
                </a:solidFill>
              </a:rPr>
              <a:t>}</a:t>
            </a:r>
            <a:r>
              <a:rPr b="1" lang="en" sz="1300">
                <a:solidFill>
                  <a:schemeClr val="lt1"/>
                </a:solidFill>
              </a:rPr>
              <a:t>Only run this if kernel does not appear</a:t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212875" y="148450"/>
            <a:ext cx="8520600" cy="6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Setup (uv + Python 3.12 + VS Code)</a:t>
            </a:r>
            <a:endParaRPr b="1" sz="3700"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0400" y="1034100"/>
            <a:ext cx="8520600" cy="39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Windows (Command Prompt)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uv init -p 3.12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uv venv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.venv\Scripts\activate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uv add ipykernel pandas numpy matplotlib seaborn jupyter openpyxl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code 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Imports to use in your notebook or script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import pandas as pd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import numpy as np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import matplotlib.pyplot as plt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import seaborn as sns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212875" y="148450"/>
            <a:ext cx="8520600" cy="6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Setup (uv + Python 3.12 + VS Code)</a:t>
            </a:r>
            <a:endParaRPr b="1" sz="3700"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623400" y="3400350"/>
            <a:ext cx="85206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import </a:t>
            </a:r>
            <a:r>
              <a:rPr lang="en" sz="1600">
                <a:solidFill>
                  <a:schemeClr val="lt1"/>
                </a:solidFill>
              </a:rPr>
              <a:t>pandas</a:t>
            </a:r>
            <a:r>
              <a:rPr lang="en" sz="1600">
                <a:solidFill>
                  <a:schemeClr val="dk1"/>
                </a:solidFill>
              </a:rPr>
              <a:t> as </a:t>
            </a:r>
            <a:r>
              <a:rPr lang="en" sz="1600">
                <a:solidFill>
                  <a:srgbClr val="FF0000"/>
                </a:solidFill>
              </a:rPr>
              <a:t>pd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import </a:t>
            </a:r>
            <a:r>
              <a:rPr lang="en" sz="1600">
                <a:solidFill>
                  <a:schemeClr val="lt1"/>
                </a:solidFill>
              </a:rPr>
              <a:t>numpy</a:t>
            </a:r>
            <a:r>
              <a:rPr lang="en" sz="1600">
                <a:solidFill>
                  <a:schemeClr val="dk1"/>
                </a:solidFill>
              </a:rPr>
              <a:t> as </a:t>
            </a:r>
            <a:r>
              <a:rPr lang="en" sz="1600">
                <a:solidFill>
                  <a:srgbClr val="FF0000"/>
                </a:solidFill>
              </a:rPr>
              <a:t>np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import </a:t>
            </a:r>
            <a:r>
              <a:rPr lang="en" sz="1600">
                <a:solidFill>
                  <a:schemeClr val="lt1"/>
                </a:solidFill>
              </a:rPr>
              <a:t>matplotlib.pyplot</a:t>
            </a:r>
            <a:r>
              <a:rPr lang="en" sz="1600">
                <a:solidFill>
                  <a:schemeClr val="dk1"/>
                </a:solidFill>
              </a:rPr>
              <a:t> as </a:t>
            </a:r>
            <a:r>
              <a:rPr lang="en" sz="1600">
                <a:solidFill>
                  <a:srgbClr val="FF0000"/>
                </a:solidFill>
              </a:rPr>
              <a:t>plt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import </a:t>
            </a:r>
            <a:r>
              <a:rPr lang="en" sz="1600">
                <a:solidFill>
                  <a:schemeClr val="lt1"/>
                </a:solidFill>
              </a:rPr>
              <a:t>seaborn</a:t>
            </a:r>
            <a:r>
              <a:rPr lang="en" sz="1600">
                <a:solidFill>
                  <a:schemeClr val="dk1"/>
                </a:solidFill>
              </a:rPr>
              <a:t> as </a:t>
            </a:r>
            <a:r>
              <a:rPr lang="en" sz="1600">
                <a:solidFill>
                  <a:srgbClr val="FF0000"/>
                </a:solidFill>
              </a:rPr>
              <a:t>sns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</p:txBody>
      </p:sp>
      <p:sp>
        <p:nvSpPr>
          <p:cNvPr id="76" name="Google Shape;76;p16"/>
          <p:cNvSpPr txBox="1"/>
          <p:nvPr/>
        </p:nvSpPr>
        <p:spPr>
          <a:xfrm>
            <a:off x="424675" y="1127900"/>
            <a:ext cx="7790700" cy="19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Library							Purpose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 						data cleaning &amp; analysis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						    numerical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Matplotlib							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Seaborn						      statistical charts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Jupyter							notebooks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Openpyxl							Excel 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Ipykernel							notebook kernel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311700" y="104800"/>
            <a:ext cx="8520600" cy="8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Slide 2 — Learning Objectives</a:t>
            </a:r>
            <a:endParaRPr b="1" sz="3200"/>
          </a:p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456325" y="1016225"/>
            <a:ext cx="7004700" cy="3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• </a:t>
            </a:r>
            <a:r>
              <a:rPr lang="en"/>
              <a:t>Clean messy datasets using pandas</a:t>
            </a:r>
            <a:br>
              <a:rPr lang="en"/>
            </a:br>
            <a:r>
              <a:rPr lang="en"/>
              <a:t> • Handle missing values (null values)</a:t>
            </a:r>
            <a:br>
              <a:rPr lang="en"/>
            </a:br>
            <a:r>
              <a:rPr lang="en"/>
              <a:t> • Remove duplicate records</a:t>
            </a:r>
            <a:br>
              <a:rPr lang="en"/>
            </a:br>
            <a:r>
              <a:rPr lang="en"/>
              <a:t> • Reshape datasets for analysis</a:t>
            </a:r>
            <a:br>
              <a:rPr lang="en"/>
            </a:br>
            <a:r>
              <a:rPr lang="en"/>
              <a:t> • Perform basic Exploratory Data Analysis (EDA)</a:t>
            </a:r>
            <a:br>
              <a:rPr lang="en"/>
            </a:br>
            <a:r>
              <a:rPr lang="en"/>
              <a:t> • Apply real-world data cleaning workflow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0" y="104800"/>
            <a:ext cx="8520600" cy="8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Slide 3 — Why Data Cleaning is Important</a:t>
            </a:r>
            <a:endParaRPr b="1" sz="3200"/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441875" y="1102800"/>
            <a:ext cx="79065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Real-world data is rarely perfect.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Common problems: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• Missing values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 • Duplicate records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 • Wrong data formats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 • Inconsistent column names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 • Data stored in wrong structure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If data is not clean → analysis becomes wrong.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Garbage in → Garbage out</a:t>
            </a:r>
            <a:endParaRPr sz="3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189050" y="112025"/>
            <a:ext cx="8520600" cy="8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Slide 4 — Python Libraries for Data Analysis</a:t>
            </a:r>
            <a:endParaRPr b="1" sz="3200"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441875" y="1102800"/>
            <a:ext cx="7906500" cy="32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pandas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Used for working with tables (datasets)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NumPy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Used for fast numerical operations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import </a:t>
            </a:r>
            <a:r>
              <a:rPr lang="en" sz="1600">
                <a:solidFill>
                  <a:schemeClr val="lt1"/>
                </a:solidFill>
              </a:rPr>
              <a:t>pandas</a:t>
            </a:r>
            <a:r>
              <a:rPr lang="en" sz="1600">
                <a:solidFill>
                  <a:schemeClr val="dk1"/>
                </a:solidFill>
              </a:rPr>
              <a:t> as </a:t>
            </a:r>
            <a:r>
              <a:rPr lang="en" sz="1600">
                <a:solidFill>
                  <a:srgbClr val="FF0000"/>
                </a:solidFill>
              </a:rPr>
              <a:t>pd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import </a:t>
            </a:r>
            <a:r>
              <a:rPr lang="en" sz="1600">
                <a:solidFill>
                  <a:schemeClr val="lt1"/>
                </a:solidFill>
              </a:rPr>
              <a:t>numpy</a:t>
            </a:r>
            <a:r>
              <a:rPr lang="en" sz="1600">
                <a:solidFill>
                  <a:schemeClr val="dk1"/>
                </a:solidFill>
              </a:rPr>
              <a:t> as </a:t>
            </a:r>
            <a:r>
              <a:rPr lang="en" sz="1600">
                <a:solidFill>
                  <a:srgbClr val="FF0000"/>
                </a:solidFill>
              </a:rPr>
              <a:t>np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Connection: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Now that we know the tools, let's start cleaning data.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ctrTitle"/>
          </p:nvPr>
        </p:nvSpPr>
        <p:spPr>
          <a:xfrm>
            <a:off x="1307550" y="1266175"/>
            <a:ext cx="5785500" cy="17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5967"/>
              <a:t>SECTION 2</a:t>
            </a:r>
            <a:endParaRPr b="1" sz="5967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solidFill>
                  <a:schemeClr val="dk2"/>
                </a:solidFill>
              </a:rPr>
              <a:t>DATA CLEANING</a:t>
            </a:r>
            <a:endParaRPr b="1" sz="2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427475" y="386100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3770"/>
              <a:t>Slide 5 — What is Data Cleaning?</a:t>
            </a:r>
            <a:endParaRPr b="1" sz="2180"/>
          </a:p>
        </p:txBody>
      </p:sp>
      <p:sp>
        <p:nvSpPr>
          <p:cNvPr id="105" name="Google Shape;105;p21"/>
          <p:cNvSpPr txBox="1"/>
          <p:nvPr/>
        </p:nvSpPr>
        <p:spPr>
          <a:xfrm>
            <a:off x="521225" y="1238100"/>
            <a:ext cx="7913400" cy="3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434343"/>
                </a:solidFill>
              </a:rPr>
              <a:t>"Data cleaning" means fixing messy data so it can be analyzed correctly.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434343"/>
                </a:solidFill>
              </a:rPr>
              <a:t>Common cleaning tasks: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• Handling missing values</a:t>
            </a:r>
            <a:br>
              <a:rPr lang="en" sz="2000">
                <a:solidFill>
                  <a:srgbClr val="434343"/>
                </a:solidFill>
              </a:rPr>
            </a:br>
            <a:r>
              <a:rPr lang="en" sz="2000">
                <a:solidFill>
                  <a:srgbClr val="434343"/>
                </a:solidFill>
              </a:rPr>
              <a:t> • Removing duplicates</a:t>
            </a:r>
            <a:br>
              <a:rPr lang="en" sz="2000">
                <a:solidFill>
                  <a:srgbClr val="434343"/>
                </a:solidFill>
              </a:rPr>
            </a:br>
            <a:r>
              <a:rPr lang="en" sz="2000">
                <a:solidFill>
                  <a:srgbClr val="434343"/>
                </a:solidFill>
              </a:rPr>
              <a:t> • Fixing incorrect data types</a:t>
            </a:r>
            <a:br>
              <a:rPr lang="en" sz="2000">
                <a:solidFill>
                  <a:srgbClr val="434343"/>
                </a:solidFill>
              </a:rPr>
            </a:br>
            <a:r>
              <a:rPr lang="en" sz="2000">
                <a:solidFill>
                  <a:srgbClr val="434343"/>
                </a:solidFill>
              </a:rPr>
              <a:t> • Renaming columns</a:t>
            </a:r>
            <a:br>
              <a:rPr lang="en" sz="2000">
                <a:solidFill>
                  <a:srgbClr val="434343"/>
                </a:solidFill>
              </a:rPr>
            </a:br>
            <a:r>
              <a:rPr lang="en" sz="2000">
                <a:solidFill>
                  <a:srgbClr val="434343"/>
                </a:solidFill>
              </a:rPr>
              <a:t> • Removing unwanted columns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3370"/>
              <a:t>Slide 6 — Example of Messy Data</a:t>
            </a:r>
            <a:endParaRPr b="1" sz="1780"/>
          </a:p>
        </p:txBody>
      </p:sp>
      <p:sp>
        <p:nvSpPr>
          <p:cNvPr id="111" name="Google Shape;111;p22"/>
          <p:cNvSpPr txBox="1"/>
          <p:nvPr/>
        </p:nvSpPr>
        <p:spPr>
          <a:xfrm>
            <a:off x="521225" y="1238100"/>
            <a:ext cx="4898100" cy="3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pandas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pd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numpy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np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6E7687"/>
                </a:solidFill>
              </a:rPr>
              <a:t># Create the DataFrame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 </a:t>
            </a:r>
            <a:r>
              <a:rPr lang="en" sz="1500">
                <a:solidFill>
                  <a:srgbClr val="14181F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pd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DataFrame</a:t>
            </a:r>
            <a:r>
              <a:rPr lang="en" sz="1500">
                <a:solidFill>
                  <a:srgbClr val="2B303B"/>
                </a:solidFill>
              </a:rPr>
              <a:t>({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'Name'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00"/>
                </a:solidFill>
              </a:rPr>
              <a:t>'Kwame'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'Kojo'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'Age'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25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30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'Salary'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5000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]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})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print</a:t>
            </a:r>
            <a:r>
              <a:rPr lang="en" sz="1500">
                <a:solidFill>
                  <a:srgbClr val="2B303B"/>
                </a:solidFill>
              </a:rPr>
              <a:t>(</a:t>
            </a:r>
            <a:r>
              <a:rPr lang="en" sz="1500">
                <a:solidFill>
                  <a:srgbClr val="008000"/>
                </a:solidFill>
              </a:rPr>
              <a:t>"── Original Data ──"</a:t>
            </a:r>
            <a:r>
              <a:rPr lang="en" sz="1500">
                <a:solidFill>
                  <a:srgbClr val="2B303B"/>
                </a:solidFill>
              </a:rPr>
              <a:t>)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print</a:t>
            </a:r>
            <a:r>
              <a:rPr lang="en" sz="1500">
                <a:solidFill>
                  <a:srgbClr val="2B303B"/>
                </a:solidFill>
              </a:rPr>
              <a:t>(</a:t>
            </a:r>
            <a:r>
              <a:rPr lang="en" sz="1500">
                <a:solidFill>
                  <a:schemeClr val="dk1"/>
                </a:solidFill>
              </a:rPr>
              <a:t>df</a:t>
            </a:r>
            <a:r>
              <a:rPr lang="en" sz="1500">
                <a:solidFill>
                  <a:srgbClr val="2B303B"/>
                </a:solidFill>
              </a:rPr>
              <a:t>)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print</a:t>
            </a:r>
            <a:r>
              <a:rPr lang="en" sz="1500">
                <a:solidFill>
                  <a:srgbClr val="2B303B"/>
                </a:solidFill>
              </a:rPr>
              <a:t>()</a:t>
            </a:r>
            <a:endParaRPr sz="1500">
              <a:solidFill>
                <a:srgbClr val="2B303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B303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print(pd.__version__) 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5419325" y="1071150"/>
            <a:ext cx="3239100" cy="18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     ── Original Data ──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</a:rPr>
              <a:t>Name          Age             Salary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	 Kwame 	25.0 		5000.0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 	 Ama 		NaN   	4500.0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2 	 Kojo 		30.0 		NaN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3 	Ama 		NaN 		4500.0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5664625" y="3379875"/>
            <a:ext cx="26475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Problems: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Missing values (NaN)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• Duplicate rows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14" name="Google Shape;114;p22"/>
          <p:cNvCxnSpPr/>
          <p:nvPr/>
        </p:nvCxnSpPr>
        <p:spPr>
          <a:xfrm>
            <a:off x="2653184" y="4488600"/>
            <a:ext cx="3774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22"/>
          <p:cNvSpPr txBox="1"/>
          <p:nvPr/>
        </p:nvSpPr>
        <p:spPr>
          <a:xfrm>
            <a:off x="2985675" y="4335900"/>
            <a:ext cx="2201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To check the pandas version</a:t>
            </a:r>
            <a:endParaRPr b="1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3370"/>
              <a:t>Slide 6B — Example of Messy Data</a:t>
            </a:r>
            <a:endParaRPr b="1" sz="1780"/>
          </a:p>
        </p:txBody>
      </p:sp>
      <p:sp>
        <p:nvSpPr>
          <p:cNvPr id="121" name="Google Shape;121;p23"/>
          <p:cNvSpPr txBox="1"/>
          <p:nvPr/>
        </p:nvSpPr>
        <p:spPr>
          <a:xfrm>
            <a:off x="521225" y="1238100"/>
            <a:ext cx="4898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pandas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pd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numpy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np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6E7687"/>
                </a:solidFill>
              </a:rPr>
              <a:t># Create the DataFrame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 </a:t>
            </a:r>
            <a:r>
              <a:rPr lang="en" sz="1500">
                <a:solidFill>
                  <a:srgbClr val="14181F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pd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DataFrame</a:t>
            </a:r>
            <a:r>
              <a:rPr lang="en" sz="1500">
                <a:solidFill>
                  <a:srgbClr val="2B303B"/>
                </a:solidFill>
              </a:rPr>
              <a:t>({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'Name'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00"/>
                </a:solidFill>
              </a:rPr>
              <a:t>'Kwame'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'Kojo'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'Age'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25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30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'Salary'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5000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]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})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E7687"/>
                </a:solidFill>
              </a:rPr>
              <a:t># ── Step 1: Detect missing values ──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100C2"/>
                </a:solidFill>
              </a:rPr>
              <a:t>print</a:t>
            </a:r>
            <a:r>
              <a:rPr lang="en">
                <a:solidFill>
                  <a:srgbClr val="2B303B"/>
                </a:solidFill>
              </a:rPr>
              <a:t>(</a:t>
            </a:r>
            <a:r>
              <a:rPr lang="en">
                <a:solidFill>
                  <a:srgbClr val="008000"/>
                </a:solidFill>
              </a:rPr>
              <a:t>"── Null Count ──"</a:t>
            </a:r>
            <a:r>
              <a:rPr lang="en">
                <a:solidFill>
                  <a:srgbClr val="2B303B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100C2"/>
                </a:solidFill>
              </a:rPr>
              <a:t>print</a:t>
            </a:r>
            <a:r>
              <a:rPr lang="en">
                <a:solidFill>
                  <a:srgbClr val="2B303B"/>
                </a:solidFill>
              </a:rPr>
              <a:t>(</a:t>
            </a:r>
            <a:r>
              <a:rPr lang="en">
                <a:solidFill>
                  <a:schemeClr val="dk1"/>
                </a:solidFill>
              </a:rPr>
              <a:t>df</a:t>
            </a:r>
            <a:r>
              <a:rPr lang="en">
                <a:solidFill>
                  <a:srgbClr val="2B303B"/>
                </a:solidFill>
              </a:rPr>
              <a:t>.</a:t>
            </a:r>
            <a:r>
              <a:rPr lang="en">
                <a:solidFill>
                  <a:schemeClr val="dk1"/>
                </a:solidFill>
              </a:rPr>
              <a:t>isnull</a:t>
            </a:r>
            <a:r>
              <a:rPr lang="en">
                <a:solidFill>
                  <a:srgbClr val="2B303B"/>
                </a:solidFill>
              </a:rPr>
              <a:t>().</a:t>
            </a:r>
            <a:r>
              <a:rPr lang="en">
                <a:solidFill>
                  <a:srgbClr val="B34A00"/>
                </a:solidFill>
              </a:rPr>
              <a:t>sum</a:t>
            </a:r>
            <a:r>
              <a:rPr lang="en">
                <a:solidFill>
                  <a:srgbClr val="2B303B"/>
                </a:solidFill>
              </a:rPr>
              <a:t>())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">
                <a:solidFill>
                  <a:srgbClr val="8100C2"/>
                </a:solidFill>
              </a:rPr>
              <a:t>print</a:t>
            </a:r>
            <a:r>
              <a:rPr lang="en">
                <a:solidFill>
                  <a:srgbClr val="2B303B"/>
                </a:solidFill>
              </a:rPr>
              <a:t>()</a:t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5419325" y="1071150"/>
            <a:ext cx="3239100" cy="18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  </a:t>
            </a:r>
            <a:r>
              <a:rPr lang="en" sz="1300">
                <a:solidFill>
                  <a:schemeClr val="dk1"/>
                </a:solidFill>
              </a:rPr>
              <a:t>── Null Count ── 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Name 	0 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Age 		2 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Salary 	1 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dtype: 	int64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3318125" y="3868600"/>
            <a:ext cx="5445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df.isnull().sum()</a:t>
            </a:r>
            <a:r>
              <a:rPr lang="en" sz="1100">
                <a:solidFill>
                  <a:schemeClr val="dk1"/>
                </a:solidFill>
              </a:rPr>
              <a:t> →  Counts how many missing values are in </a:t>
            </a:r>
            <a:r>
              <a:rPr b="1" lang="en" sz="1100">
                <a:solidFill>
                  <a:schemeClr val="dk1"/>
                </a:solidFill>
              </a:rPr>
              <a:t>each column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3370"/>
              <a:t>Slide 6C — Example of Messy Data</a:t>
            </a:r>
            <a:endParaRPr b="1" sz="1780"/>
          </a:p>
        </p:txBody>
      </p:sp>
      <p:sp>
        <p:nvSpPr>
          <p:cNvPr id="129" name="Google Shape;129;p24"/>
          <p:cNvSpPr txBox="1"/>
          <p:nvPr/>
        </p:nvSpPr>
        <p:spPr>
          <a:xfrm>
            <a:off x="521225" y="1238100"/>
            <a:ext cx="48981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pandas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pd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numpy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np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6E7687"/>
                </a:solidFill>
              </a:rPr>
              <a:t># Create the DataFrame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 </a:t>
            </a:r>
            <a:r>
              <a:rPr lang="en" sz="1500">
                <a:solidFill>
                  <a:srgbClr val="14181F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pd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DataFrame</a:t>
            </a:r>
            <a:r>
              <a:rPr lang="en" sz="1500">
                <a:solidFill>
                  <a:srgbClr val="2B303B"/>
                </a:solidFill>
              </a:rPr>
              <a:t>({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'Name'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00"/>
                </a:solidFill>
              </a:rPr>
              <a:t>'Kwame'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'Kojo'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'Age'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25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30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'Salary'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5000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]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})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7687"/>
                </a:solidFill>
              </a:rPr>
              <a:t>#</a:t>
            </a:r>
            <a:r>
              <a:rPr lang="en">
                <a:solidFill>
                  <a:srgbClr val="6E7687"/>
                </a:solidFill>
              </a:rPr>
              <a:t> ── </a:t>
            </a:r>
            <a:r>
              <a:rPr b="1" lang="en"/>
              <a:t>Step 2: Check for duplicates</a:t>
            </a:r>
            <a:r>
              <a:rPr lang="en">
                <a:solidFill>
                  <a:srgbClr val="6E7687"/>
                </a:solidFill>
              </a:rPr>
              <a:t> ──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100C2"/>
                </a:solidFill>
              </a:rPr>
              <a:t>print</a:t>
            </a:r>
            <a:r>
              <a:rPr lang="en">
                <a:solidFill>
                  <a:srgbClr val="2B303B"/>
                </a:solidFill>
              </a:rPr>
              <a:t>(</a:t>
            </a:r>
            <a:r>
              <a:rPr lang="en">
                <a:solidFill>
                  <a:srgbClr val="008000"/>
                </a:solidFill>
              </a:rPr>
              <a:t>"── Duplicates ──"</a:t>
            </a:r>
            <a:r>
              <a:rPr lang="en">
                <a:solidFill>
                  <a:srgbClr val="2B303B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100C2"/>
                </a:solidFill>
              </a:rPr>
              <a:t>print</a:t>
            </a:r>
            <a:r>
              <a:rPr lang="en">
                <a:solidFill>
                  <a:srgbClr val="2B303B"/>
                </a:solidFill>
              </a:rPr>
              <a:t>(</a:t>
            </a:r>
            <a:r>
              <a:rPr lang="en">
                <a:solidFill>
                  <a:schemeClr val="dk1"/>
                </a:solidFill>
              </a:rPr>
              <a:t>df</a:t>
            </a:r>
            <a:r>
              <a:rPr lang="en">
                <a:solidFill>
                  <a:srgbClr val="2B303B"/>
                </a:solidFill>
              </a:rPr>
              <a:t>.</a:t>
            </a:r>
            <a:r>
              <a:rPr lang="en">
                <a:solidFill>
                  <a:schemeClr val="dk1"/>
                </a:solidFill>
              </a:rPr>
              <a:t>duplicated</a:t>
            </a:r>
            <a:r>
              <a:rPr lang="en">
                <a:solidFill>
                  <a:srgbClr val="2B303B"/>
                </a:solidFill>
              </a:rPr>
              <a:t>().</a:t>
            </a:r>
            <a:r>
              <a:rPr lang="en">
                <a:solidFill>
                  <a:srgbClr val="B34A00"/>
                </a:solidFill>
              </a:rPr>
              <a:t>sum</a:t>
            </a:r>
            <a:r>
              <a:rPr lang="en">
                <a:solidFill>
                  <a:srgbClr val="2B303B"/>
                </a:solidFill>
              </a:rPr>
              <a:t>(),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8000"/>
                </a:solidFill>
              </a:rPr>
              <a:t>"duplicate row(s) found"</a:t>
            </a:r>
            <a:r>
              <a:rPr lang="en">
                <a:solidFill>
                  <a:srgbClr val="2B303B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">
                <a:solidFill>
                  <a:srgbClr val="8100C2"/>
                </a:solidFill>
              </a:rPr>
              <a:t>print</a:t>
            </a:r>
            <a:r>
              <a:rPr lang="en">
                <a:solidFill>
                  <a:srgbClr val="2B303B"/>
                </a:solidFill>
              </a:rPr>
              <a:t>()</a:t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5419325" y="1814175"/>
            <a:ext cx="3239100" cy="142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Output: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── Duplicates ──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1 duplicate row(s) found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3370"/>
              <a:t>Slide 6D — Example of Messy Data</a:t>
            </a:r>
            <a:endParaRPr b="1" sz="1780"/>
          </a:p>
        </p:txBody>
      </p:sp>
      <p:sp>
        <p:nvSpPr>
          <p:cNvPr id="136" name="Google Shape;136;p25"/>
          <p:cNvSpPr txBox="1"/>
          <p:nvPr/>
        </p:nvSpPr>
        <p:spPr>
          <a:xfrm>
            <a:off x="521225" y="1238100"/>
            <a:ext cx="4898100" cy="3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pandas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pd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100C2"/>
                </a:solidFill>
              </a:rPr>
              <a:t>import</a:t>
            </a:r>
            <a:r>
              <a:rPr lang="en" sz="1500">
                <a:solidFill>
                  <a:schemeClr val="dk1"/>
                </a:solidFill>
              </a:rPr>
              <a:t> numpy </a:t>
            </a:r>
            <a:r>
              <a:rPr lang="en" sz="1500">
                <a:solidFill>
                  <a:srgbClr val="8100C2"/>
                </a:solidFill>
              </a:rPr>
              <a:t>as</a:t>
            </a:r>
            <a:r>
              <a:rPr lang="en" sz="1500">
                <a:solidFill>
                  <a:schemeClr val="dk1"/>
                </a:solidFill>
              </a:rPr>
              <a:t> np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6E7687"/>
                </a:solidFill>
              </a:rPr>
              <a:t># Create the DataFrame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 </a:t>
            </a:r>
            <a:r>
              <a:rPr lang="en" sz="1500">
                <a:solidFill>
                  <a:srgbClr val="14181F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pd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DataFrame</a:t>
            </a:r>
            <a:r>
              <a:rPr lang="en" sz="1500">
                <a:solidFill>
                  <a:srgbClr val="2B303B"/>
                </a:solidFill>
              </a:rPr>
              <a:t>({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'Name'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00"/>
                </a:solidFill>
              </a:rPr>
              <a:t>'Kwame'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'Kojo'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00"/>
                </a:solidFill>
              </a:rPr>
              <a:t>'Ama'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'Age'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25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30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],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00"/>
                </a:solidFill>
              </a:rPr>
              <a:t>'Salary'</a:t>
            </a:r>
            <a:r>
              <a:rPr lang="en" sz="1500">
                <a:solidFill>
                  <a:srgbClr val="2B303B"/>
                </a:solidFill>
              </a:rPr>
              <a:t>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[</a:t>
            </a:r>
            <a:r>
              <a:rPr lang="en" sz="1500">
                <a:solidFill>
                  <a:srgbClr val="008080"/>
                </a:solidFill>
              </a:rPr>
              <a:t>5000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np</a:t>
            </a:r>
            <a:r>
              <a:rPr lang="en" sz="1500">
                <a:solidFill>
                  <a:srgbClr val="2B303B"/>
                </a:solidFill>
              </a:rPr>
              <a:t>.</a:t>
            </a:r>
            <a:r>
              <a:rPr lang="en" sz="1500">
                <a:solidFill>
                  <a:schemeClr val="dk1"/>
                </a:solidFill>
              </a:rPr>
              <a:t>nan</a:t>
            </a:r>
            <a:r>
              <a:rPr lang="en" sz="1500">
                <a:solidFill>
                  <a:srgbClr val="2B303B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008080"/>
                </a:solidFill>
              </a:rPr>
              <a:t>4500</a:t>
            </a:r>
            <a:r>
              <a:rPr lang="en" sz="1500">
                <a:solidFill>
                  <a:srgbClr val="2B303B"/>
                </a:solidFill>
              </a:rPr>
              <a:t>]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2B303B"/>
                </a:solidFill>
              </a:rPr>
              <a:t>})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# ── Step 3: Fill missing values ──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df</a:t>
            </a:r>
            <a:r>
              <a:rPr lang="en" sz="1000">
                <a:solidFill>
                  <a:srgbClr val="2B303B"/>
                </a:solidFill>
              </a:rPr>
              <a:t>[</a:t>
            </a:r>
            <a:r>
              <a:rPr lang="en" sz="1000">
                <a:solidFill>
                  <a:srgbClr val="008000"/>
                </a:solidFill>
              </a:rPr>
              <a:t>'Age'</a:t>
            </a:r>
            <a:r>
              <a:rPr lang="en" sz="1000">
                <a:solidFill>
                  <a:srgbClr val="2B303B"/>
                </a:solidFill>
              </a:rPr>
              <a:t>]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lang="en" sz="1000">
                <a:solidFill>
                  <a:srgbClr val="14181F"/>
                </a:solidFill>
              </a:rPr>
              <a:t>=</a:t>
            </a:r>
            <a:r>
              <a:rPr lang="en" sz="1000">
                <a:solidFill>
                  <a:schemeClr val="dk1"/>
                </a:solidFill>
              </a:rPr>
              <a:t> df</a:t>
            </a:r>
            <a:r>
              <a:rPr lang="en" sz="1000">
                <a:solidFill>
                  <a:srgbClr val="2B303B"/>
                </a:solidFill>
              </a:rPr>
              <a:t>[</a:t>
            </a:r>
            <a:r>
              <a:rPr lang="en" sz="1000">
                <a:solidFill>
                  <a:srgbClr val="008000"/>
                </a:solidFill>
              </a:rPr>
              <a:t>'Age'</a:t>
            </a:r>
            <a:r>
              <a:rPr lang="en" sz="1000">
                <a:solidFill>
                  <a:srgbClr val="2B303B"/>
                </a:solidFill>
              </a:rPr>
              <a:t>].</a:t>
            </a:r>
            <a:r>
              <a:rPr lang="en" sz="1000">
                <a:solidFill>
                  <a:schemeClr val="dk1"/>
                </a:solidFill>
              </a:rPr>
              <a:t>fillna</a:t>
            </a:r>
            <a:r>
              <a:rPr lang="en" sz="1000">
                <a:solidFill>
                  <a:srgbClr val="2B303B"/>
                </a:solidFill>
              </a:rPr>
              <a:t>(</a:t>
            </a:r>
            <a:r>
              <a:rPr lang="en" sz="1000">
                <a:solidFill>
                  <a:schemeClr val="dk1"/>
                </a:solidFill>
              </a:rPr>
              <a:t>df</a:t>
            </a:r>
            <a:r>
              <a:rPr lang="en" sz="1000">
                <a:solidFill>
                  <a:srgbClr val="2B303B"/>
                </a:solidFill>
              </a:rPr>
              <a:t>[</a:t>
            </a:r>
            <a:r>
              <a:rPr lang="en" sz="1000">
                <a:solidFill>
                  <a:srgbClr val="008000"/>
                </a:solidFill>
              </a:rPr>
              <a:t>'Age'</a:t>
            </a:r>
            <a:r>
              <a:rPr lang="en" sz="1000">
                <a:solidFill>
                  <a:srgbClr val="2B303B"/>
                </a:solidFill>
              </a:rPr>
              <a:t>].</a:t>
            </a:r>
            <a:r>
              <a:rPr lang="en" sz="1000">
                <a:solidFill>
                  <a:schemeClr val="dk1"/>
                </a:solidFill>
              </a:rPr>
              <a:t>median</a:t>
            </a:r>
            <a:r>
              <a:rPr lang="en" sz="1000">
                <a:solidFill>
                  <a:srgbClr val="2B303B"/>
                </a:solidFill>
              </a:rPr>
              <a:t>())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df</a:t>
            </a:r>
            <a:r>
              <a:rPr lang="en" sz="1000">
                <a:solidFill>
                  <a:srgbClr val="2B303B"/>
                </a:solidFill>
              </a:rPr>
              <a:t>[</a:t>
            </a:r>
            <a:r>
              <a:rPr lang="en" sz="1000">
                <a:solidFill>
                  <a:srgbClr val="008000"/>
                </a:solidFill>
              </a:rPr>
              <a:t>'Salary'</a:t>
            </a:r>
            <a:r>
              <a:rPr lang="en" sz="1000">
                <a:solidFill>
                  <a:srgbClr val="2B303B"/>
                </a:solidFill>
              </a:rPr>
              <a:t>]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lang="en" sz="1000">
                <a:solidFill>
                  <a:srgbClr val="14181F"/>
                </a:solidFill>
              </a:rPr>
              <a:t>=</a:t>
            </a:r>
            <a:r>
              <a:rPr lang="en" sz="1000">
                <a:solidFill>
                  <a:schemeClr val="dk1"/>
                </a:solidFill>
              </a:rPr>
              <a:t> df</a:t>
            </a:r>
            <a:r>
              <a:rPr lang="en" sz="1000">
                <a:solidFill>
                  <a:srgbClr val="2B303B"/>
                </a:solidFill>
              </a:rPr>
              <a:t>[</a:t>
            </a:r>
            <a:r>
              <a:rPr lang="en" sz="1000">
                <a:solidFill>
                  <a:srgbClr val="008000"/>
                </a:solidFill>
              </a:rPr>
              <a:t>'Salary'</a:t>
            </a:r>
            <a:r>
              <a:rPr lang="en" sz="1000">
                <a:solidFill>
                  <a:srgbClr val="2B303B"/>
                </a:solidFill>
              </a:rPr>
              <a:t>].</a:t>
            </a:r>
            <a:r>
              <a:rPr lang="en" sz="1000">
                <a:solidFill>
                  <a:schemeClr val="dk1"/>
                </a:solidFill>
              </a:rPr>
              <a:t>fillna</a:t>
            </a:r>
            <a:r>
              <a:rPr lang="en" sz="1000">
                <a:solidFill>
                  <a:srgbClr val="2B303B"/>
                </a:solidFill>
              </a:rPr>
              <a:t>(</a:t>
            </a:r>
            <a:r>
              <a:rPr lang="en" sz="1000">
                <a:solidFill>
                  <a:schemeClr val="dk1"/>
                </a:solidFill>
              </a:rPr>
              <a:t>df</a:t>
            </a:r>
            <a:r>
              <a:rPr lang="en" sz="1000">
                <a:solidFill>
                  <a:srgbClr val="2B303B"/>
                </a:solidFill>
              </a:rPr>
              <a:t>[</a:t>
            </a:r>
            <a:r>
              <a:rPr lang="en" sz="1000">
                <a:solidFill>
                  <a:srgbClr val="008000"/>
                </a:solidFill>
              </a:rPr>
              <a:t>'Salary'</a:t>
            </a:r>
            <a:r>
              <a:rPr lang="en" sz="1000">
                <a:solidFill>
                  <a:srgbClr val="2B303B"/>
                </a:solidFill>
              </a:rPr>
              <a:t>].</a:t>
            </a:r>
            <a:r>
              <a:rPr lang="en" sz="1000">
                <a:solidFill>
                  <a:schemeClr val="dk1"/>
                </a:solidFill>
              </a:rPr>
              <a:t>median</a:t>
            </a:r>
            <a:r>
              <a:rPr lang="en" sz="1000">
                <a:solidFill>
                  <a:srgbClr val="2B303B"/>
                </a:solidFill>
              </a:rPr>
              <a:t>())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# ── Step 4: Remove duplicates ──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df </a:t>
            </a:r>
            <a:r>
              <a:rPr lang="en" sz="1000">
                <a:solidFill>
                  <a:srgbClr val="14181F"/>
                </a:solidFill>
              </a:rPr>
              <a:t>=</a:t>
            </a:r>
            <a:r>
              <a:rPr lang="en" sz="1000">
                <a:solidFill>
                  <a:schemeClr val="dk1"/>
                </a:solidFill>
              </a:rPr>
              <a:t> df</a:t>
            </a:r>
            <a:r>
              <a:rPr lang="en" sz="1000">
                <a:solidFill>
                  <a:srgbClr val="2B303B"/>
                </a:solidFill>
              </a:rPr>
              <a:t>.</a:t>
            </a:r>
            <a:r>
              <a:rPr lang="en" sz="1000">
                <a:solidFill>
                  <a:schemeClr val="dk1"/>
                </a:solidFill>
              </a:rPr>
              <a:t>drop_duplicates</a:t>
            </a:r>
            <a:r>
              <a:rPr lang="en" sz="1000">
                <a:solidFill>
                  <a:srgbClr val="2B303B"/>
                </a:solidFill>
              </a:rPr>
              <a:t>()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100C2"/>
                </a:solidFill>
              </a:rPr>
              <a:t>print</a:t>
            </a:r>
            <a:r>
              <a:rPr lang="en" sz="1000">
                <a:solidFill>
                  <a:srgbClr val="2B303B"/>
                </a:solidFill>
              </a:rPr>
              <a:t>(</a:t>
            </a:r>
            <a:r>
              <a:rPr lang="en" sz="1000">
                <a:solidFill>
                  <a:srgbClr val="008000"/>
                </a:solidFill>
              </a:rPr>
              <a:t>"── Cleaned Data ──"</a:t>
            </a:r>
            <a:r>
              <a:rPr lang="en" sz="1000">
                <a:solidFill>
                  <a:srgbClr val="2B303B"/>
                </a:solidFill>
              </a:rPr>
              <a:t>)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000">
                <a:solidFill>
                  <a:srgbClr val="8100C2"/>
                </a:solidFill>
              </a:rPr>
              <a:t>print</a:t>
            </a:r>
            <a:r>
              <a:rPr lang="en" sz="1000">
                <a:solidFill>
                  <a:srgbClr val="2B303B"/>
                </a:solidFill>
              </a:rPr>
              <a:t>(</a:t>
            </a:r>
            <a:r>
              <a:rPr lang="en" sz="1000">
                <a:solidFill>
                  <a:schemeClr val="dk1"/>
                </a:solidFill>
              </a:rPr>
              <a:t>df</a:t>
            </a:r>
            <a:r>
              <a:rPr lang="en" sz="1000">
                <a:solidFill>
                  <a:srgbClr val="2B303B"/>
                </a:solidFill>
              </a:rPr>
              <a:t>)</a:t>
            </a:r>
            <a:endParaRPr sz="1000">
              <a:solidFill>
                <a:srgbClr val="434343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5419325" y="1814175"/>
            <a:ext cx="3239100" cy="24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Output: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</a:t>
            </a:r>
            <a:r>
              <a:rPr lang="en" sz="1300">
                <a:solidFill>
                  <a:schemeClr val="dk1"/>
                </a:solidFill>
              </a:rPr>
              <a:t>── Duplicates ──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 duplicate row(s) found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── Cleaned Data ── 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Name 	Age 	Salary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 	Kwame 	25.0   5000.0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 	Ama             27.5   4500.0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2 	Kojo 		30.0   4750.0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2470"/>
              <a:t>Slide 7 — Understanding Missing Values (Null Values)</a:t>
            </a:r>
            <a:endParaRPr b="1" sz="880"/>
          </a:p>
        </p:txBody>
      </p:sp>
      <p:sp>
        <p:nvSpPr>
          <p:cNvPr id="143" name="Google Shape;143;p26"/>
          <p:cNvSpPr txBox="1"/>
          <p:nvPr/>
        </p:nvSpPr>
        <p:spPr>
          <a:xfrm>
            <a:off x="988475" y="1236300"/>
            <a:ext cx="48981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Missing values occur when data is not available.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In pandas, missing values appear as: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NaN = Not a Number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We can detect missing values using: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" sz="1700">
                <a:solidFill>
                  <a:srgbClr val="8100C2"/>
                </a:solidFill>
              </a:rPr>
              <a:t>print</a:t>
            </a:r>
            <a:r>
              <a:rPr lang="en" sz="1700">
                <a:solidFill>
                  <a:srgbClr val="2B303B"/>
                </a:solidFill>
              </a:rPr>
              <a:t>(</a:t>
            </a:r>
            <a:r>
              <a:rPr lang="en" sz="1700">
                <a:solidFill>
                  <a:schemeClr val="dk1"/>
                </a:solidFill>
              </a:rPr>
              <a:t>df</a:t>
            </a:r>
            <a:r>
              <a:rPr lang="en" sz="1700">
                <a:solidFill>
                  <a:srgbClr val="2B303B"/>
                </a:solidFill>
              </a:rPr>
              <a:t>)</a:t>
            </a:r>
            <a:endParaRPr sz="1700">
              <a:solidFill>
                <a:srgbClr val="434343"/>
              </a:solidFill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88475" y="3688875"/>
            <a:ext cx="1763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8100C2"/>
                </a:solidFill>
              </a:rPr>
              <a:t>df</a:t>
            </a:r>
            <a:r>
              <a:rPr lang="en" sz="1800">
                <a:solidFill>
                  <a:srgbClr val="FF0000"/>
                </a:solidFill>
              </a:rPr>
              <a:t>.</a:t>
            </a:r>
            <a:r>
              <a:rPr lang="en" sz="1800">
                <a:solidFill>
                  <a:schemeClr val="dk2"/>
                </a:solidFill>
              </a:rPr>
              <a:t>isnull()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</a:rPr>
              <a:t>df</a:t>
            </a:r>
            <a:r>
              <a:rPr lang="en" sz="1800">
                <a:solidFill>
                  <a:srgbClr val="FF0000"/>
                </a:solidFill>
              </a:rPr>
              <a:t>.</a:t>
            </a:r>
            <a:r>
              <a:rPr lang="en" sz="1800">
                <a:solidFill>
                  <a:schemeClr val="dk2"/>
                </a:solidFill>
              </a:rPr>
              <a:t>isnull()</a:t>
            </a:r>
            <a:r>
              <a:rPr lang="en" sz="1800">
                <a:solidFill>
                  <a:srgbClr val="FF0000"/>
                </a:solidFill>
              </a:rPr>
              <a:t>.</a:t>
            </a:r>
            <a:r>
              <a:rPr lang="en" sz="1800">
                <a:solidFill>
                  <a:schemeClr val="dk2"/>
                </a:solidFill>
              </a:rPr>
              <a:t>sum()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2635200" y="3643925"/>
            <a:ext cx="6469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df.info()</a:t>
            </a:r>
            <a:r>
              <a:rPr lang="en" sz="1300">
                <a:solidFill>
                  <a:schemeClr val="dk1"/>
                </a:solidFill>
              </a:rPr>
              <a:t> — see the non-null count for each column at a glance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df.isnull()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→ Checks every cell in the DataFrame and tells you </a:t>
            </a:r>
            <a:r>
              <a:rPr b="1" lang="en" sz="1100">
                <a:solidFill>
                  <a:schemeClr val="dk1"/>
                </a:solidFill>
              </a:rPr>
              <a:t>whether the value is missing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df.isnull().sum()</a:t>
            </a:r>
            <a:r>
              <a:rPr lang="en" sz="1100">
                <a:solidFill>
                  <a:schemeClr val="dk1"/>
                </a:solidFill>
              </a:rPr>
              <a:t> →  Counts how many missing values are in </a:t>
            </a:r>
            <a:r>
              <a:rPr b="1" lang="en" sz="1100">
                <a:solidFill>
                  <a:schemeClr val="dk1"/>
                </a:solidFill>
              </a:rPr>
              <a:t>each column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2470"/>
              <a:t>Slide 8 — Filling Missing Values using fillna()</a:t>
            </a:r>
            <a:endParaRPr b="1" sz="880"/>
          </a:p>
        </p:txBody>
      </p:sp>
      <p:sp>
        <p:nvSpPr>
          <p:cNvPr id="151" name="Google Shape;151;p27"/>
          <p:cNvSpPr txBox="1"/>
          <p:nvPr/>
        </p:nvSpPr>
        <p:spPr>
          <a:xfrm>
            <a:off x="602075" y="1453750"/>
            <a:ext cx="7433700" cy="3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We replace missing values with a value.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Example: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df["Age"] = df["Age"].fillna(0)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Fill with mean: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df["Age"] = df["Age"].fillna(df["Age"].mean())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2400"/>
            </a:br>
            <a:r>
              <a:rPr lang="en" sz="1900">
                <a:solidFill>
                  <a:schemeClr val="lt1"/>
                </a:solidFill>
              </a:rPr>
              <a:t>df["City"] = df["City"].fillna("Kumasi")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2470"/>
              <a:t>Filling Missing Values using fillna() - METHODS</a:t>
            </a:r>
            <a:endParaRPr b="1" sz="880"/>
          </a:p>
        </p:txBody>
      </p:sp>
      <p:sp>
        <p:nvSpPr>
          <p:cNvPr id="157" name="Google Shape;157;p28"/>
          <p:cNvSpPr txBox="1"/>
          <p:nvPr/>
        </p:nvSpPr>
        <p:spPr>
          <a:xfrm>
            <a:off x="298875" y="965025"/>
            <a:ext cx="87165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Method</a:t>
            </a:r>
            <a:r>
              <a:rPr b="1" lang="en" sz="1100"/>
              <a:t>					</a:t>
            </a:r>
            <a:r>
              <a:rPr b="1" lang="en" sz="1600"/>
              <a:t>When to Use</a:t>
            </a:r>
            <a:r>
              <a:rPr b="1" lang="en" sz="1100"/>
              <a:t>					</a:t>
            </a:r>
            <a:r>
              <a:rPr b="1" lang="en" sz="1600"/>
              <a:t>Example Code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Fixed Value		when a default value makes sense		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df["Age"] = df["Age"].fillna(0)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Mean				numeric data without extreme outliers	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df["Age"] =            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    	df["Age"].fillna(df["Age"].mean())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Median			numeric data with outliers    			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df["Age"] =     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  	df["Age"].fillna(df["Age"].median())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				categorical/text data				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df["Gender"] =   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		df["Gender"].fillna(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		df["Gender"].mode()[0])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Forward Fill (ffill)		use previous row value                        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df["Price"] =  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	  	df["Price"].fillna(method="ffill")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Backward Fill (bfill)                use next row value                             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df["Price"] =   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		df["Price"].fillna(method="bfill")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Custom Value		          input your own value				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df["City"] =   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    	df["City"].fillna("Accra")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b="1" sz="23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2470"/>
              <a:t>Filling Missing Values using fillna() - METHODS</a:t>
            </a:r>
            <a:endParaRPr b="1" sz="880"/>
          </a:p>
        </p:txBody>
      </p:sp>
      <p:sp>
        <p:nvSpPr>
          <p:cNvPr id="163" name="Google Shape;163;p29"/>
          <p:cNvSpPr txBox="1"/>
          <p:nvPr/>
        </p:nvSpPr>
        <p:spPr>
          <a:xfrm>
            <a:off x="298875" y="965025"/>
            <a:ext cx="87165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Method 1 — Using </a:t>
            </a:r>
            <a:r>
              <a:rPr b="1"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.loc</a:t>
            </a:r>
            <a:r>
              <a:rPr b="1" lang="en" sz="2300">
                <a:solidFill>
                  <a:schemeClr val="dk1"/>
                </a:solidFill>
              </a:rPr>
              <a:t> (recommended)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Targets by </a:t>
            </a:r>
            <a:r>
              <a:rPr b="1" lang="en" sz="1100">
                <a:solidFill>
                  <a:schemeClr val="dk1"/>
                </a:solidFill>
              </a:rPr>
              <a:t>row label + column name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df.loc[1, "Age"] = 30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Meaning: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Row index </a:t>
            </a:r>
            <a:r>
              <a:rPr b="1" lang="en" sz="1100">
                <a:solidFill>
                  <a:schemeClr val="dk1"/>
                </a:solidFill>
              </a:rPr>
              <a:t>1</a:t>
            </a:r>
            <a:r>
              <a:rPr lang="en" sz="1100">
                <a:solidFill>
                  <a:schemeClr val="dk1"/>
                </a:solidFill>
              </a:rPr>
              <a:t>, column </a:t>
            </a:r>
            <a:r>
              <a:rPr b="1" lang="en" sz="1100">
                <a:solidFill>
                  <a:schemeClr val="dk1"/>
                </a:solidFill>
              </a:rPr>
              <a:t>Age</a:t>
            </a:r>
            <a:r>
              <a:rPr lang="en" sz="1100">
                <a:solidFill>
                  <a:schemeClr val="dk1"/>
                </a:solidFill>
              </a:rPr>
              <a:t> → change value to </a:t>
            </a:r>
            <a:r>
              <a:rPr b="1" lang="en" sz="1100">
                <a:solidFill>
                  <a:schemeClr val="dk1"/>
                </a:solidFill>
              </a:rPr>
              <a:t>30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Method 2 — Replace only ONE missing value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If you only want to replace a specific missing value: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df.loc[1, "Age"] = df.loc[1, "Age"] if pd.notnull(df.loc[1, "Age"]) else 35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But usually we simply do: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df.loc[1, "Age"] = 35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2470"/>
              <a:t>Slide 9 — Dropping Missing Values using dropna()</a:t>
            </a:r>
            <a:endParaRPr b="1" sz="880"/>
          </a:p>
        </p:txBody>
      </p:sp>
      <p:sp>
        <p:nvSpPr>
          <p:cNvPr id="169" name="Google Shape;169;p30"/>
          <p:cNvSpPr txBox="1"/>
          <p:nvPr/>
        </p:nvSpPr>
        <p:spPr>
          <a:xfrm>
            <a:off x="602075" y="1453750"/>
            <a:ext cx="72360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Remove rows that contain missing values.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df = df.dropna()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Remove columns with missing values: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df = df.dropna(axis=1)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Connection:</a:t>
            </a:r>
            <a:br>
              <a:rPr lang="en" sz="1700"/>
            </a:br>
            <a:r>
              <a:rPr lang="en" sz="1700"/>
              <a:t>Sometimes missing data is not the only issue. We may also have repeated records.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ctrTitle"/>
          </p:nvPr>
        </p:nvSpPr>
        <p:spPr>
          <a:xfrm>
            <a:off x="463525" y="198525"/>
            <a:ext cx="83538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en" sz="2470"/>
              <a:t>Slide 10 — Removing Duplicate Data</a:t>
            </a:r>
            <a:endParaRPr b="1" sz="880"/>
          </a:p>
        </p:txBody>
      </p:sp>
      <p:sp>
        <p:nvSpPr>
          <p:cNvPr id="175" name="Google Shape;175;p31"/>
          <p:cNvSpPr txBox="1"/>
          <p:nvPr/>
        </p:nvSpPr>
        <p:spPr>
          <a:xfrm>
            <a:off x="602075" y="1453750"/>
            <a:ext cx="72360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666666"/>
                </a:solidFill>
              </a:rPr>
              <a:t>Duplicates happen when the same row appears multiple times.</a:t>
            </a:r>
            <a:endParaRPr sz="19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Check duplicates: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df.duplicated()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Remove duplicates: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df = df.drop_duplicates()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ctrTitle"/>
          </p:nvPr>
        </p:nvSpPr>
        <p:spPr>
          <a:xfrm>
            <a:off x="1307550" y="1266175"/>
            <a:ext cx="5785500" cy="17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7444"/>
              <a:t>SECTION 3 </a:t>
            </a:r>
            <a:r>
              <a:rPr b="1" lang="en" sz="2300">
                <a:solidFill>
                  <a:srgbClr val="6E7687"/>
                </a:solidFill>
              </a:rPr>
              <a:t>RESHAPING DATA</a:t>
            </a:r>
            <a:endParaRPr b="1" sz="3200">
              <a:solidFill>
                <a:srgbClr val="6E768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ctrTitle"/>
          </p:nvPr>
        </p:nvSpPr>
        <p:spPr>
          <a:xfrm>
            <a:off x="471875" y="409025"/>
            <a:ext cx="7725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389"/>
              <a:t>Slide 11 — What is Data Reshaping?</a:t>
            </a:r>
            <a:r>
              <a:rPr b="1" lang="en" sz="3389"/>
              <a:t> </a:t>
            </a:r>
            <a:endParaRPr b="1" sz="3200">
              <a:solidFill>
                <a:srgbClr val="6E7687"/>
              </a:solidFill>
            </a:endParaRPr>
          </a:p>
        </p:txBody>
      </p:sp>
      <p:sp>
        <p:nvSpPr>
          <p:cNvPr id="186" name="Google Shape;186;p33"/>
          <p:cNvSpPr txBox="1"/>
          <p:nvPr/>
        </p:nvSpPr>
        <p:spPr>
          <a:xfrm>
            <a:off x="667300" y="1190800"/>
            <a:ext cx="70449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2"/>
                </a:solidFill>
              </a:rPr>
              <a:t>Data reshaping means changing the structure of data to make analysis easier.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2"/>
                </a:solidFill>
              </a:rPr>
              <a:t>Examples: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2"/>
                </a:solidFill>
              </a:rPr>
              <a:t>• Converting columns into rows</a:t>
            </a:r>
            <a:br>
              <a:rPr lang="en" sz="2100">
                <a:solidFill>
                  <a:schemeClr val="dk2"/>
                </a:solidFill>
              </a:rPr>
            </a:br>
            <a:r>
              <a:rPr lang="en" sz="2100">
                <a:solidFill>
                  <a:schemeClr val="dk2"/>
                </a:solidFill>
              </a:rPr>
              <a:t> • Combining datasets</a:t>
            </a:r>
            <a:br>
              <a:rPr lang="en" sz="2100">
                <a:solidFill>
                  <a:schemeClr val="dk2"/>
                </a:solidFill>
              </a:rPr>
            </a:br>
            <a:r>
              <a:rPr lang="en" sz="2100">
                <a:solidFill>
                  <a:schemeClr val="dk2"/>
                </a:solidFill>
              </a:rPr>
              <a:t> • Grouping values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ctrTitle"/>
          </p:nvPr>
        </p:nvSpPr>
        <p:spPr>
          <a:xfrm>
            <a:off x="471875" y="409025"/>
            <a:ext cx="7725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389"/>
              <a:t>Slide 12 — Melt Function</a:t>
            </a:r>
            <a:r>
              <a:rPr b="1" lang="en" sz="3389"/>
              <a:t> </a:t>
            </a:r>
            <a:endParaRPr b="1" sz="3200">
              <a:solidFill>
                <a:srgbClr val="6E7687"/>
              </a:solidFill>
            </a:endParaRPr>
          </a:p>
        </p:txBody>
      </p:sp>
      <p:graphicFrame>
        <p:nvGraphicFramePr>
          <p:cNvPr id="192" name="Google Shape;192;p34"/>
          <p:cNvGraphicFramePr/>
          <p:nvPr/>
        </p:nvGraphicFramePr>
        <p:xfrm>
          <a:off x="471875" y="353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{10C3BA11-C34C-4574-9D96-4B7DE6A44B3F}</a:tableStyleId>
              </a:tblPr>
              <a:tblGrid>
                <a:gridCol w="1426000"/>
                <a:gridCol w="1324200"/>
                <a:gridCol w="1833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Name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Math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English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34"/>
          <p:cNvSpPr txBox="1"/>
          <p:nvPr/>
        </p:nvSpPr>
        <p:spPr>
          <a:xfrm>
            <a:off x="838000" y="997200"/>
            <a:ext cx="5894700" cy="3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melt converts columns into rows.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Wide format → Long format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pd.melt(df)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Becomes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| Name | Subject | Score |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ctrTitle"/>
          </p:nvPr>
        </p:nvSpPr>
        <p:spPr>
          <a:xfrm>
            <a:off x="471875" y="409025"/>
            <a:ext cx="7725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389"/>
              <a:t>Slide 13 — Pivot Function</a:t>
            </a:r>
            <a:endParaRPr b="1" sz="3200">
              <a:solidFill>
                <a:srgbClr val="6E7687"/>
              </a:solidFill>
            </a:endParaRPr>
          </a:p>
        </p:txBody>
      </p:sp>
      <p:sp>
        <p:nvSpPr>
          <p:cNvPr id="199" name="Google Shape;199;p35"/>
          <p:cNvSpPr txBox="1"/>
          <p:nvPr/>
        </p:nvSpPr>
        <p:spPr>
          <a:xfrm>
            <a:off x="532525" y="1065000"/>
            <a:ext cx="8509500" cy="24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pivot converts rows into columns.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Long format → Wide format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df.pivot(index="Name", columns="Subject", values="Score")</a:t>
            </a:r>
            <a:endParaRPr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ctrTitle"/>
          </p:nvPr>
        </p:nvSpPr>
        <p:spPr>
          <a:xfrm>
            <a:off x="311700" y="2613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Slide 14 — Groupby Operation</a:t>
            </a:r>
            <a:endParaRPr b="1" sz="4400"/>
          </a:p>
        </p:txBody>
      </p:sp>
      <p:sp>
        <p:nvSpPr>
          <p:cNvPr id="205" name="Google Shape;205;p36"/>
          <p:cNvSpPr txBox="1"/>
          <p:nvPr>
            <p:ph idx="1" type="subTitle"/>
          </p:nvPr>
        </p:nvSpPr>
        <p:spPr>
          <a:xfrm>
            <a:off x="771450" y="1053925"/>
            <a:ext cx="76011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Group data based on a category.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Average salary per department.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df.groupby("Department")["Salary"].mean()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ctrTitle"/>
          </p:nvPr>
        </p:nvSpPr>
        <p:spPr>
          <a:xfrm>
            <a:off x="311700" y="2613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Slide 15 — Merge Operation</a:t>
            </a:r>
            <a:endParaRPr b="1" sz="4400"/>
          </a:p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771450" y="1053925"/>
            <a:ext cx="76011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merge combines two datasets using a common column.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Students table + Scores table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pd.merge(df1, df2, on="StudentID")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ctrTitle"/>
          </p:nvPr>
        </p:nvSpPr>
        <p:spPr>
          <a:xfrm>
            <a:off x="311700" y="2613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Slide 16 — Join Operation</a:t>
            </a:r>
            <a:endParaRPr b="1" sz="4400"/>
          </a:p>
        </p:txBody>
      </p:sp>
      <p:sp>
        <p:nvSpPr>
          <p:cNvPr id="217" name="Google Shape;217;p38"/>
          <p:cNvSpPr txBox="1"/>
          <p:nvPr>
            <p:ph idx="1" type="subTitle"/>
          </p:nvPr>
        </p:nvSpPr>
        <p:spPr>
          <a:xfrm>
            <a:off x="771450" y="1053925"/>
            <a:ext cx="7601100" cy="28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Join is similar to merge but based on index.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df1.join(df2)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Connection:</a:t>
            </a:r>
            <a:br>
              <a:rPr lang="en"/>
            </a:br>
            <a:r>
              <a:rPr lang="en"/>
              <a:t> After reshaping data, we can now analyze patterns.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ctrTitle"/>
          </p:nvPr>
        </p:nvSpPr>
        <p:spPr>
          <a:xfrm>
            <a:off x="1744025" y="1473625"/>
            <a:ext cx="53931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600"/>
              <a:t>SECTION 4</a:t>
            </a:r>
            <a:endParaRPr b="1" sz="8700"/>
          </a:p>
        </p:txBody>
      </p:sp>
      <p:sp>
        <p:nvSpPr>
          <p:cNvPr id="223" name="Google Shape;223;p39"/>
          <p:cNvSpPr txBox="1"/>
          <p:nvPr>
            <p:ph idx="1" type="subTitle"/>
          </p:nvPr>
        </p:nvSpPr>
        <p:spPr>
          <a:xfrm>
            <a:off x="1465475" y="2457775"/>
            <a:ext cx="6824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6E7687"/>
                </a:solidFill>
              </a:rPr>
              <a:t>EXPLORATORY DATA ANALYSIS (EDA)</a:t>
            </a:r>
            <a:endParaRPr>
              <a:solidFill>
                <a:srgbClr val="6E768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ctrTitle"/>
          </p:nvPr>
        </p:nvSpPr>
        <p:spPr>
          <a:xfrm>
            <a:off x="416100" y="3601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500"/>
              <a:t>Slide 17 — What is EDA?</a:t>
            </a:r>
            <a:endParaRPr b="1" sz="5600"/>
          </a:p>
        </p:txBody>
      </p:sp>
      <p:sp>
        <p:nvSpPr>
          <p:cNvPr id="229" name="Google Shape;229;p40"/>
          <p:cNvSpPr txBox="1"/>
          <p:nvPr>
            <p:ph idx="1" type="subTitle"/>
          </p:nvPr>
        </p:nvSpPr>
        <p:spPr>
          <a:xfrm>
            <a:off x="416100" y="1700900"/>
            <a:ext cx="8311800" cy="26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2100">
                <a:solidFill>
                  <a:schemeClr val="dk1"/>
                </a:solidFill>
              </a:rPr>
              <a:t>EDA</a:t>
            </a:r>
            <a:r>
              <a:rPr lang="en" sz="2100">
                <a:solidFill>
                  <a:schemeClr val="dk1"/>
                </a:solidFill>
              </a:rPr>
              <a:t> stands for </a:t>
            </a:r>
            <a:r>
              <a:rPr b="1" lang="en" sz="2100">
                <a:solidFill>
                  <a:schemeClr val="dk1"/>
                </a:solidFill>
              </a:rPr>
              <a:t>Exploratory Data Analysis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br>
              <a:rPr b="1" lang="en" sz="2075">
                <a:solidFill>
                  <a:srgbClr val="6E7687"/>
                </a:solidFill>
              </a:rPr>
            </a:br>
            <a:r>
              <a:rPr b="1" lang="en" sz="1775">
                <a:solidFill>
                  <a:srgbClr val="6E7687"/>
                </a:solidFill>
              </a:rPr>
              <a:t>EDA means understanding the dataset before building models.</a:t>
            </a:r>
            <a:endParaRPr b="1" sz="1775">
              <a:solidFill>
                <a:srgbClr val="6E7687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775">
                <a:solidFill>
                  <a:srgbClr val="6E7687"/>
                </a:solidFill>
              </a:rPr>
              <a:t>We explore:</a:t>
            </a:r>
            <a:endParaRPr b="1" sz="1775">
              <a:solidFill>
                <a:srgbClr val="6E7687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b="1" lang="en" sz="1775">
                <a:solidFill>
                  <a:srgbClr val="6E7687"/>
                </a:solidFill>
              </a:rPr>
              <a:t>• patterns</a:t>
            </a:r>
            <a:br>
              <a:rPr b="1" lang="en" sz="1775">
                <a:solidFill>
                  <a:srgbClr val="6E7687"/>
                </a:solidFill>
              </a:rPr>
            </a:br>
            <a:r>
              <a:rPr b="1" lang="en" sz="1775">
                <a:solidFill>
                  <a:srgbClr val="6E7687"/>
                </a:solidFill>
              </a:rPr>
              <a:t>• trends</a:t>
            </a:r>
            <a:br>
              <a:rPr b="1" lang="en" sz="1775">
                <a:solidFill>
                  <a:srgbClr val="6E7687"/>
                </a:solidFill>
              </a:rPr>
            </a:br>
            <a:r>
              <a:rPr b="1" lang="en" sz="1775">
                <a:solidFill>
                  <a:srgbClr val="6E7687"/>
                </a:solidFill>
              </a:rPr>
              <a:t>• relationships</a:t>
            </a:r>
            <a:br>
              <a:rPr b="1" lang="en" sz="1775">
                <a:solidFill>
                  <a:srgbClr val="6E7687"/>
                </a:solidFill>
              </a:rPr>
            </a:br>
            <a:r>
              <a:rPr b="1" lang="en" sz="1775">
                <a:solidFill>
                  <a:srgbClr val="6E7687"/>
                </a:solidFill>
              </a:rPr>
              <a:t>• unusual values</a:t>
            </a:r>
            <a:endParaRPr b="1" sz="1775">
              <a:solidFill>
                <a:srgbClr val="6E768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ctrTitle"/>
          </p:nvPr>
        </p:nvSpPr>
        <p:spPr>
          <a:xfrm>
            <a:off x="416100" y="3601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500"/>
              <a:t>Slide 18 — Basic EDA Workflow</a:t>
            </a:r>
            <a:endParaRPr b="1" sz="5600"/>
          </a:p>
        </p:txBody>
      </p:sp>
      <p:sp>
        <p:nvSpPr>
          <p:cNvPr id="235" name="Google Shape;235;p41"/>
          <p:cNvSpPr txBox="1"/>
          <p:nvPr>
            <p:ph idx="1" type="subTitle"/>
          </p:nvPr>
        </p:nvSpPr>
        <p:spPr>
          <a:xfrm>
            <a:off x="416100" y="1700900"/>
            <a:ext cx="83118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Step 1 — View first rows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df.head()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Step 2 — Check structure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df.info()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Step 3 — Summary statistics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df.describe()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ctrTitle"/>
          </p:nvPr>
        </p:nvSpPr>
        <p:spPr>
          <a:xfrm>
            <a:off x="416100" y="3601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500"/>
              <a:t>Slide 19 — Checking Column Names</a:t>
            </a:r>
            <a:endParaRPr b="1" sz="5600"/>
          </a:p>
        </p:txBody>
      </p:sp>
      <p:sp>
        <p:nvSpPr>
          <p:cNvPr id="241" name="Google Shape;241;p42"/>
          <p:cNvSpPr txBox="1"/>
          <p:nvPr>
            <p:ph idx="1" type="subTitle"/>
          </p:nvPr>
        </p:nvSpPr>
        <p:spPr>
          <a:xfrm>
            <a:off x="416100" y="1700900"/>
            <a:ext cx="83118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df.columns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00">
                <a:solidFill>
                  <a:schemeClr val="dk1"/>
                </a:solidFill>
              </a:rPr>
              <a:t>Rename columns: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df.rename(columns={"old_name":"new_name"})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ctrTitle"/>
          </p:nvPr>
        </p:nvSpPr>
        <p:spPr>
          <a:xfrm>
            <a:off x="416100" y="3601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500"/>
              <a:t>Slide 20 — Checking Unique Values</a:t>
            </a:r>
            <a:endParaRPr b="1" sz="5600"/>
          </a:p>
        </p:txBody>
      </p:sp>
      <p:sp>
        <p:nvSpPr>
          <p:cNvPr id="247" name="Google Shape;247;p43"/>
          <p:cNvSpPr txBox="1"/>
          <p:nvPr>
            <p:ph idx="1" type="subTitle"/>
          </p:nvPr>
        </p:nvSpPr>
        <p:spPr>
          <a:xfrm>
            <a:off x="416100" y="1700900"/>
            <a:ext cx="83118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df["Gender"].unique()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00">
                <a:solidFill>
                  <a:schemeClr val="dk1"/>
                </a:solidFill>
              </a:rPr>
              <a:t>Count values: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df["Gender"].value_counts()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ctrTitle"/>
          </p:nvPr>
        </p:nvSpPr>
        <p:spPr>
          <a:xfrm>
            <a:off x="416100" y="3601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500"/>
              <a:t>Slide 21 — Detecting Outliers</a:t>
            </a:r>
            <a:endParaRPr b="1" sz="5600"/>
          </a:p>
        </p:txBody>
      </p:sp>
      <p:sp>
        <p:nvSpPr>
          <p:cNvPr id="253" name="Google Shape;253;p44"/>
          <p:cNvSpPr txBox="1"/>
          <p:nvPr>
            <p:ph idx="1" type="subTitle"/>
          </p:nvPr>
        </p:nvSpPr>
        <p:spPr>
          <a:xfrm>
            <a:off x="416100" y="1700900"/>
            <a:ext cx="83118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Outliers are unusual values that are very far from others.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00">
                <a:solidFill>
                  <a:schemeClr val="dk1"/>
                </a:solidFill>
              </a:rPr>
              <a:t>Example: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Salary = 1,000,000 when most salaries are 3,000.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chemeClr val="dk1"/>
                </a:solidFill>
              </a:rPr>
              <a:t>df.describe()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ctrTitle"/>
          </p:nvPr>
        </p:nvSpPr>
        <p:spPr>
          <a:xfrm>
            <a:off x="479000" y="13396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6800"/>
              <a:t>SECTION 5</a:t>
            </a:r>
            <a:endParaRPr b="1" sz="8900"/>
          </a:p>
        </p:txBody>
      </p:sp>
      <p:sp>
        <p:nvSpPr>
          <p:cNvPr id="259" name="Google Shape;259;p45"/>
          <p:cNvSpPr txBox="1"/>
          <p:nvPr>
            <p:ph idx="1" type="subTitle"/>
          </p:nvPr>
        </p:nvSpPr>
        <p:spPr>
          <a:xfrm>
            <a:off x="143100" y="2608475"/>
            <a:ext cx="8311800" cy="7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100"/>
              <a:t>PRACTICAL LAB</a:t>
            </a:r>
            <a:endParaRPr b="1" sz="2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ctrTitle"/>
          </p:nvPr>
        </p:nvSpPr>
        <p:spPr>
          <a:xfrm>
            <a:off x="143100" y="2343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4100"/>
              <a:t>Slide 22 — Lab Task</a:t>
            </a:r>
            <a:endParaRPr b="1" sz="6200"/>
          </a:p>
        </p:txBody>
      </p:sp>
      <p:sp>
        <p:nvSpPr>
          <p:cNvPr id="265" name="Google Shape;265;p46"/>
          <p:cNvSpPr txBox="1"/>
          <p:nvPr>
            <p:ph idx="1" type="subTitle"/>
          </p:nvPr>
        </p:nvSpPr>
        <p:spPr>
          <a:xfrm>
            <a:off x="416100" y="1316600"/>
            <a:ext cx="8311800" cy="29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800"/>
              <a:t>Students will clean and reshape a messy dataset.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800"/>
              <a:t>Tasks:</a:t>
            </a:r>
            <a:endParaRPr b="1" sz="18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b="1" lang="en" sz="1800"/>
              <a:t>Identify missing values</a:t>
            </a:r>
            <a:endParaRPr b="1" sz="1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b="1" lang="en" sz="1800"/>
              <a:t>Fill or drop missing values</a:t>
            </a:r>
            <a:endParaRPr b="1" sz="1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b="1" lang="en" sz="1800"/>
              <a:t>Remove duplicates</a:t>
            </a:r>
            <a:endParaRPr b="1" sz="1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b="1" lang="en" sz="1800"/>
              <a:t>Reshape dataset using melt or pivot</a:t>
            </a:r>
            <a:endParaRPr b="1" sz="1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b="1" lang="en" sz="1800"/>
              <a:t>Perform basic EDA</a:t>
            </a:r>
            <a:endParaRPr b="1"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 txBox="1"/>
          <p:nvPr>
            <p:ph type="ctrTitle"/>
          </p:nvPr>
        </p:nvSpPr>
        <p:spPr>
          <a:xfrm>
            <a:off x="143100" y="2343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100"/>
              <a:t>Slide 23 — Example Dataset Structure</a:t>
            </a:r>
            <a:endParaRPr b="1"/>
          </a:p>
        </p:txBody>
      </p:sp>
      <p:sp>
        <p:nvSpPr>
          <p:cNvPr id="271" name="Google Shape;271;p47"/>
          <p:cNvSpPr txBox="1"/>
          <p:nvPr>
            <p:ph idx="1" type="subTitle"/>
          </p:nvPr>
        </p:nvSpPr>
        <p:spPr>
          <a:xfrm>
            <a:off x="416100" y="1316600"/>
            <a:ext cx="8311800" cy="29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Name				Department				Salary					Age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Ama				          HR					       4000						25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Kojo				           IT						NaN						30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Ama				          HR						4000					25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ctrTitle"/>
          </p:nvPr>
        </p:nvSpPr>
        <p:spPr>
          <a:xfrm>
            <a:off x="143100" y="2343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100"/>
              <a:t>Slide 24 — Lab Step 1</a:t>
            </a:r>
            <a:endParaRPr b="1"/>
          </a:p>
        </p:txBody>
      </p:sp>
      <p:sp>
        <p:nvSpPr>
          <p:cNvPr id="277" name="Google Shape;277;p48"/>
          <p:cNvSpPr txBox="1"/>
          <p:nvPr>
            <p:ph idx="1" type="subTitle"/>
          </p:nvPr>
        </p:nvSpPr>
        <p:spPr>
          <a:xfrm>
            <a:off x="416100" y="1316600"/>
            <a:ext cx="8311800" cy="21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00">
                <a:solidFill>
                  <a:srgbClr val="000000"/>
                </a:solidFill>
              </a:rPr>
              <a:t>Load dataset</a:t>
            </a:r>
            <a:endParaRPr b="1"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700">
                <a:solidFill>
                  <a:srgbClr val="000000"/>
                </a:solidFill>
              </a:rPr>
              <a:t>import pandas as pd</a:t>
            </a:r>
            <a:endParaRPr sz="2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700">
                <a:solidFill>
                  <a:srgbClr val="000000"/>
                </a:solidFill>
              </a:rPr>
              <a:t>df = pd.read_csv("data.csv")</a:t>
            </a:r>
            <a:endParaRPr sz="27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ctrTitle"/>
          </p:nvPr>
        </p:nvSpPr>
        <p:spPr>
          <a:xfrm>
            <a:off x="247500" y="3601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100"/>
              <a:t>Slide 25 — Lab Step 2</a:t>
            </a:r>
            <a:endParaRPr b="1"/>
          </a:p>
        </p:txBody>
      </p:sp>
      <p:sp>
        <p:nvSpPr>
          <p:cNvPr id="283" name="Google Shape;283;p49"/>
          <p:cNvSpPr txBox="1"/>
          <p:nvPr>
            <p:ph idx="1" type="subTitle"/>
          </p:nvPr>
        </p:nvSpPr>
        <p:spPr>
          <a:xfrm>
            <a:off x="247500" y="1376550"/>
            <a:ext cx="83118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00">
                <a:solidFill>
                  <a:srgbClr val="000000"/>
                </a:solidFill>
              </a:rPr>
              <a:t>Check missing values</a:t>
            </a:r>
            <a:endParaRPr b="1"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rgbClr val="000000"/>
                </a:solidFill>
              </a:rPr>
              <a:t>df.isnull().sum()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84" name="Google Shape;284;p49"/>
          <p:cNvSpPr txBox="1"/>
          <p:nvPr/>
        </p:nvSpPr>
        <p:spPr>
          <a:xfrm>
            <a:off x="247500" y="2795525"/>
            <a:ext cx="6856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Clean dataset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df = df.drop_duplicates()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df["Salary"] = df["Salary"].fillna(df["Salary"].mean())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404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type="ctrTitle"/>
          </p:nvPr>
        </p:nvSpPr>
        <p:spPr>
          <a:xfrm>
            <a:off x="247500" y="3601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100"/>
              <a:t>Slide 26 — Lab Step 3</a:t>
            </a:r>
            <a:endParaRPr b="1"/>
          </a:p>
        </p:txBody>
      </p:sp>
      <p:sp>
        <p:nvSpPr>
          <p:cNvPr id="290" name="Google Shape;290;p50"/>
          <p:cNvSpPr txBox="1"/>
          <p:nvPr>
            <p:ph idx="1" type="subTitle"/>
          </p:nvPr>
        </p:nvSpPr>
        <p:spPr>
          <a:xfrm>
            <a:off x="247500" y="1376550"/>
            <a:ext cx="83118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00">
                <a:solidFill>
                  <a:srgbClr val="000000"/>
                </a:solidFill>
              </a:rPr>
              <a:t>Group data</a:t>
            </a:r>
            <a:endParaRPr b="1"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solidFill>
                  <a:srgbClr val="000000"/>
                </a:solidFill>
              </a:rPr>
              <a:t>df.groupby("Department")["Salary"].mean()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291" name="Google Shape;291;p50"/>
          <p:cNvSpPr txBox="1"/>
          <p:nvPr/>
        </p:nvSpPr>
        <p:spPr>
          <a:xfrm>
            <a:off x="247500" y="2795525"/>
            <a:ext cx="6856200" cy="22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Clean dataset ready for analysis.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Students now understand: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• data cleaning workflow</a:t>
            </a:r>
            <a:br>
              <a:rPr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 • reshaping techniques</a:t>
            </a:r>
            <a:br>
              <a:rPr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 • EDA process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